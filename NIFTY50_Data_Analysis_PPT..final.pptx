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260" r:id="rId5"/>
    <p:sldId id="261" r:id="rId6"/>
    <p:sldId id="279" r:id="rId7"/>
    <p:sldId id="263" r:id="rId8"/>
    <p:sldId id="266" r:id="rId9"/>
    <p:sldId id="269" r:id="rId10"/>
    <p:sldId id="286" r:id="rId11"/>
    <p:sldId id="287" r:id="rId12"/>
    <p:sldId id="288" r:id="rId13"/>
    <p:sldId id="289" r:id="rId14"/>
    <p:sldId id="281" r:id="rId15"/>
    <p:sldId id="283" r:id="rId16"/>
    <p:sldId id="273" r:id="rId17"/>
    <p:sldId id="275" r:id="rId18"/>
    <p:sldId id="276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72B77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6237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3268A-F83D-9F58-A59A-C7AB3C795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C6C622-108C-480D-F272-9DA7EA724A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42759E-DCC6-C7DB-8EE7-378F98FF5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A8D6C-1EC8-E1A1-7C40-E335C232F7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1390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B54E9-4252-A808-A42E-E175A1176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FE02B3-4769-05C6-8589-17908ECBD4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D107FD-7807-CAE1-6AF0-A3025BC33E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8428E0-6794-0F40-01EF-3D9EE18837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2050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6A1C2-1805-2E6B-B447-062F8065C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FF657F-481C-6B55-2DC1-F77CD89397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22702D-6CEA-BA74-7423-2D0E898F06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7C1202-A445-E94F-331C-F1697D7370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4794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4AD37-7398-67C5-9B69-2FD7173C2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0B5A8F-F10D-CA6B-A919-28F3CC5617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DB7F2E-2BCF-0ED4-8534-2988EF27CF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C77EC-D516-9637-F54F-750A43BD55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5702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A4625-0850-19D7-2834-2529068EB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756298-166E-E06F-DFAF-685A1377FE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F8CFA3-A3BF-D2F8-0356-E09B73D40F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7FB969-9BFF-C663-543A-32E7B763E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4011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37867-257B-2C29-ED75-D8AB85B93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0B052A-DB9C-9662-BE01-8513FE501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4BACC1-0E31-E631-D42A-1FC4759CCF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FCF03-DF63-B5B4-4361-E30A4F4D0C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5357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D8CE7-94AF-191E-E789-87B911269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9118FC-0DBE-C320-5192-D1B5450041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4FF83F-EBE8-A303-98B6-E81C7920E8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458C8-C532-B876-F8A7-5BA65D2F6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4279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image" Target="../media/image6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457200"/>
            <a:ext cx="4114800" cy="6400800"/>
          </a:xfrm>
          <a:prstGeom prst="rect">
            <a:avLst/>
          </a:prstGeom>
          <a:solidFill>
            <a:srgbClr val="5B2D8E">
              <a:alpha val="60000"/>
            </a:srgbClr>
          </a:solidFill>
          <a:ln w="12700">
            <a:solidFill>
              <a:srgbClr val="5B2D8E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2743200" cy="6400800"/>
          </a:xfrm>
          <a:prstGeom prst="rect">
            <a:avLst/>
          </a:prstGeom>
          <a:solidFill>
            <a:srgbClr val="7B3FBE">
              <a:alpha val="45000"/>
            </a:srgbClr>
          </a:solidFill>
          <a:ln w="12700">
            <a:solidFill>
              <a:srgbClr val="7B3FBE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74320"/>
            <a:ext cx="822960" cy="822960"/>
          </a:xfrm>
          <a:prstGeom prst="ellipse">
            <a:avLst/>
          </a:prstGeom>
          <a:solidFill>
            <a:srgbClr val="E8C96A">
              <a:alpha val="70000"/>
            </a:srgbClr>
          </a:solidFill>
          <a:ln w="12700">
            <a:solidFill>
              <a:srgbClr val="E8C96A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0" y="1371600"/>
            <a:ext cx="457200" cy="457200"/>
          </a:xfrm>
          <a:prstGeom prst="ellipse">
            <a:avLst/>
          </a:prstGeom>
          <a:solidFill>
            <a:srgbClr val="6ECFB4">
              <a:alpha val="60000"/>
            </a:srgbClr>
          </a:solidFill>
          <a:ln w="12700">
            <a:solidFill>
              <a:srgbClr val="6ECFB4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3474720"/>
            <a:ext cx="640080" cy="640080"/>
          </a:xfrm>
          <a:prstGeom prst="ellipse">
            <a:avLst/>
          </a:prstGeom>
          <a:solidFill>
            <a:srgbClr val="B57BEE">
              <a:alpha val="50000"/>
            </a:srgbClr>
          </a:solidFill>
          <a:ln w="12700">
            <a:solidFill>
              <a:srgbClr val="B57BEE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1097280"/>
            <a:ext cx="201168" cy="1280160"/>
          </a:xfrm>
          <a:prstGeom prst="rect">
            <a:avLst/>
          </a:prstGeom>
          <a:solidFill>
            <a:srgbClr val="6ECFB4">
              <a:alpha val="65000"/>
            </a:srgbClr>
          </a:solidFill>
          <a:ln w="12700">
            <a:solidFill>
              <a:srgbClr val="6ECFB4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731520"/>
            <a:ext cx="201168" cy="1645920"/>
          </a:xfrm>
          <a:prstGeom prst="rect">
            <a:avLst/>
          </a:prstGeom>
          <a:solidFill>
            <a:srgbClr val="F07A7A">
              <a:alpha val="65000"/>
            </a:srgbClr>
          </a:solidFill>
          <a:ln w="12700">
            <a:solidFill>
              <a:srgbClr val="F07A7A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1371600"/>
            <a:ext cx="201168" cy="1005840"/>
          </a:xfrm>
          <a:prstGeom prst="rect">
            <a:avLst/>
          </a:prstGeom>
          <a:solidFill>
            <a:srgbClr val="6ECFB4">
              <a:alpha val="65000"/>
            </a:srgbClr>
          </a:solidFill>
          <a:ln w="12700">
            <a:solidFill>
              <a:srgbClr val="6ECFB4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5280" y="548640"/>
            <a:ext cx="201168" cy="1828800"/>
          </a:xfrm>
          <a:prstGeom prst="rect">
            <a:avLst/>
          </a:prstGeom>
          <a:solidFill>
            <a:srgbClr val="6ECFB4">
              <a:alpha val="65000"/>
            </a:srgbClr>
          </a:solidFill>
          <a:ln w="12700">
            <a:solidFill>
              <a:srgbClr val="6ECFB4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0" y="914400"/>
            <a:ext cx="201168" cy="1371600"/>
          </a:xfrm>
          <a:prstGeom prst="rect">
            <a:avLst/>
          </a:prstGeom>
          <a:solidFill>
            <a:srgbClr val="F07A7A">
              <a:alpha val="65000"/>
            </a:srgbClr>
          </a:solidFill>
          <a:ln w="12700">
            <a:solidFill>
              <a:srgbClr val="F07A7A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463040"/>
            <a:ext cx="1645920" cy="64008"/>
          </a:xfrm>
          <a:prstGeom prst="rect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9144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50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457200" y="16002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C4A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137160" y="2363724"/>
            <a:ext cx="2926080" cy="384048"/>
          </a:xfrm>
          <a:prstGeom prst="rect">
            <a:avLst/>
          </a:prstGeom>
          <a:solidFill>
            <a:srgbClr val="7B3FBE"/>
          </a:solidFill>
          <a:ln w="12700">
            <a:solidFill>
              <a:srgbClr val="7B3F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77440"/>
            <a:ext cx="21977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Python</a:t>
            </a:r>
            <a:endParaRPr lang="en-US" sz="1600" b="1" dirty="0"/>
          </a:p>
        </p:txBody>
      </p:sp>
      <p:sp>
        <p:nvSpPr>
          <p:cNvPr id="17" name="Text 15"/>
          <p:cNvSpPr/>
          <p:nvPr/>
        </p:nvSpPr>
        <p:spPr>
          <a:xfrm>
            <a:off x="357877" y="3931920"/>
            <a:ext cx="10988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7877" y="4160520"/>
            <a:ext cx="219771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Prabha Burman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7B3FBE">
              <a:alpha val="30000"/>
            </a:srgbClr>
          </a:solidFill>
          <a:ln w="12700">
            <a:solidFill>
              <a:srgbClr val="7B3FBE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46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64008" cy="4640580"/>
          </a:xfrm>
          <a:prstGeom prst="rect">
            <a:avLst/>
          </a:prstGeom>
          <a:solidFill>
            <a:srgbClr val="7B3FBE"/>
          </a:solidFill>
          <a:ln w="12700">
            <a:solidFill>
              <a:srgbClr val="7B3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45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" y="47548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4592" y="822960"/>
            <a:ext cx="4114800" cy="393192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9326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Nifty 50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1444752"/>
            <a:ext cx="3474720" cy="50292"/>
          </a:xfrm>
          <a:prstGeom prst="rect">
            <a:avLst/>
          </a:prstGeom>
          <a:solidFill>
            <a:srgbClr val="7B3FBE">
              <a:alpha val="50000"/>
            </a:srgbClr>
          </a:solidFill>
          <a:ln w="12700">
            <a:solidFill>
              <a:srgbClr val="7B3FBE">
                <a:alpha val="5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4048" y="1627632"/>
            <a:ext cx="201168" cy="201168"/>
          </a:xfrm>
          <a:prstGeom prst="ellipse">
            <a:avLst/>
          </a:prstGeom>
          <a:solidFill>
            <a:srgbClr val="7B3FBE"/>
          </a:solidFill>
          <a:ln w="12700">
            <a:solidFill>
              <a:srgbClr val="7B3FB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" y="158191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50 represents India's top 50 blue-chip companies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84048" y="2157984"/>
            <a:ext cx="201168" cy="201168"/>
          </a:xfrm>
          <a:prstGeom prst="ellipse">
            <a:avLst/>
          </a:prstGeom>
          <a:solidFill>
            <a:srgbClr val="7B3FBE"/>
          </a:solidFill>
          <a:ln w="12700">
            <a:solidFill>
              <a:srgbClr val="7B3FB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4944" y="211226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diverse sectors like IT, Banking, FMCG, and Energy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84048" y="2688336"/>
            <a:ext cx="201168" cy="201168"/>
          </a:xfrm>
          <a:prstGeom prst="ellipse">
            <a:avLst/>
          </a:prstGeom>
          <a:solidFill>
            <a:srgbClr val="7B3FBE"/>
          </a:solidFill>
          <a:ln w="12700">
            <a:solidFill>
              <a:srgbClr val="7B3FB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4944" y="264261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liquid and widely tracked by global investors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84048" y="3218688"/>
            <a:ext cx="201168" cy="201168"/>
          </a:xfrm>
          <a:prstGeom prst="ellipse">
            <a:avLst/>
          </a:prstGeom>
          <a:solidFill>
            <a:srgbClr val="7B3FBE"/>
          </a:solidFill>
          <a:ln w="12700">
            <a:solidFill>
              <a:srgbClr val="7B3FB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4944" y="317296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studying real-world financial patterns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84048" y="3749040"/>
            <a:ext cx="201168" cy="201168"/>
          </a:xfrm>
          <a:prstGeom prst="ellipse">
            <a:avLst/>
          </a:prstGeom>
          <a:solidFill>
            <a:srgbClr val="7B3FBE"/>
          </a:solidFill>
          <a:ln w="12700">
            <a:solidFill>
              <a:srgbClr val="7B3FB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4944" y="370332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personal interest in stock market behaviour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462272" y="868680"/>
            <a:ext cx="4480560" cy="114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E0D5F5"/>
            </a:solidFill>
            <a:prstDash val="solid"/>
          </a:ln>
          <a:effectLst>
            <a:outerShdw blurRad="76200" dist="25400" dir="8100000" algn="bl" rotWithShape="0">
              <a:srgbClr val="9B6FE8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462272" y="868680"/>
            <a:ext cx="50292" cy="1143000"/>
          </a:xfrm>
          <a:prstGeom prst="rect">
            <a:avLst/>
          </a:prstGeom>
          <a:solidFill>
            <a:srgbClr val="7B3FBE"/>
          </a:solidFill>
          <a:ln w="12700">
            <a:solidFill>
              <a:srgbClr val="7B3FBE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978408"/>
            <a:ext cx="347472" cy="34747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07492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Companies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4617720" y="139903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every major Indian sector across NSE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4462272" y="2167128"/>
            <a:ext cx="4480560" cy="114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E0D5F5"/>
            </a:solidFill>
            <a:prstDash val="solid"/>
          </a:ln>
          <a:effectLst>
            <a:outerShdw blurRad="76200" dist="25400" dir="8100000" algn="bl" rotWithShape="0">
              <a:srgbClr val="9B6FE8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462272" y="2167128"/>
            <a:ext cx="50292" cy="1143000"/>
          </a:xfrm>
          <a:prstGeom prst="rect">
            <a:avLst/>
          </a:prstGeom>
          <a:solidFill>
            <a:srgbClr val="7B3FBE"/>
          </a:solidFill>
          <a:ln w="12700">
            <a:solidFill>
              <a:srgbClr val="7B3FBE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2276856"/>
            <a:ext cx="347472" cy="34747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074920" y="2258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Relevance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4617720" y="26974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for Indian equity markets worldwide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4462272" y="3465576"/>
            <a:ext cx="4480560" cy="114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E0D5F5"/>
            </a:solidFill>
            <a:prstDash val="solid"/>
          </a:ln>
          <a:effectLst>
            <a:outerShdw blurRad="76200" dist="25400" dir="8100000" algn="bl" rotWithShape="0">
              <a:srgbClr val="9B6FE8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4462272" y="3465576"/>
            <a:ext cx="50292" cy="1143000"/>
          </a:xfrm>
          <a:prstGeom prst="rect">
            <a:avLst/>
          </a:prstGeom>
          <a:solidFill>
            <a:srgbClr val="7B3FBE"/>
          </a:solidFill>
          <a:ln w="12700">
            <a:solidFill>
              <a:srgbClr val="7B3FBE"/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3575304"/>
            <a:ext cx="347472" cy="34747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074920" y="35570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Rich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4617720" y="399592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OHLCV data ideal for EDA &amp; visualization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64008" cy="4640580"/>
          </a:xfrm>
          <a:prstGeom prst="rect">
            <a:avLst/>
          </a:prstGeom>
          <a:solidFill>
            <a:srgbClr val="7B3FBE"/>
          </a:solidFill>
          <a:ln w="12700">
            <a:solidFill>
              <a:srgbClr val="7B3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00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385390" y="521208"/>
            <a:ext cx="18245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NIFTY_50_2025_Dataset</a:t>
            </a:r>
            <a:endParaRPr lang="en-US" sz="1400" dirty="0">
              <a:solidFill>
                <a:srgbClr val="7030A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164592" y="795528"/>
            <a:ext cx="8823960" cy="137160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601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88696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NIFTY_50_</a:t>
            </a:r>
            <a:r>
              <a:rPr lang="en-US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51560" y="12984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A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dataset containing daily and intraday OHLCV records for 50 NSE-listed companies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51560" y="16642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C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62,500 Rows  •  50 Companies  •  Daily Records</a:t>
            </a:r>
            <a:endParaRPr lang="en-US" sz="12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4725ADF9-847D-9B4C-A18F-708708E08B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5387" y="2239840"/>
            <a:ext cx="2073226" cy="430208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4E20072C-52D7-AE93-4D03-B1EBE7D9EC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539" y="2823210"/>
            <a:ext cx="5864646" cy="193923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4B5D585F-D056-5789-D156-AD8294DBB4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2185" y="2823210"/>
            <a:ext cx="2252412" cy="18894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64008" cy="4640580"/>
          </a:xfrm>
          <a:prstGeom prst="rect">
            <a:avLst/>
          </a:prstGeom>
          <a:solidFill>
            <a:srgbClr val="7B3FBE"/>
          </a:solidFill>
          <a:ln w="12700">
            <a:solidFill>
              <a:srgbClr val="7B3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657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2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64592" y="511361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7030A0"/>
                </a:solidFill>
              </a:rPr>
              <a:t>This project aims to uncover key volatility trends and behavioral patterns across NIFTY 50 companies.</a:t>
            </a:r>
          </a:p>
        </p:txBody>
      </p:sp>
      <p:sp>
        <p:nvSpPr>
          <p:cNvPr id="6" name="Shape 4"/>
          <p:cNvSpPr/>
          <p:nvPr/>
        </p:nvSpPr>
        <p:spPr>
          <a:xfrm>
            <a:off x="164592" y="822960"/>
            <a:ext cx="2834640" cy="1938528"/>
          </a:xfrm>
          <a:prstGeom prst="rect">
            <a:avLst/>
          </a:prstGeom>
          <a:solidFill>
            <a:srgbClr val="FFFFFF"/>
          </a:solidFill>
          <a:ln w="15240">
            <a:solidFill>
              <a:srgbClr val="E0D5F5"/>
            </a:solidFill>
            <a:prstDash val="solid"/>
          </a:ln>
          <a:effectLst>
            <a:outerShdw blurRad="101600" dist="25400" dir="8100000" algn="bl" rotWithShape="0">
              <a:srgbClr val="9B6FE8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822960"/>
            <a:ext cx="2834640" cy="54864"/>
          </a:xfrm>
          <a:prstGeom prst="rect">
            <a:avLst/>
          </a:prstGeom>
          <a:solidFill>
            <a:srgbClr val="7B3FBE"/>
          </a:solidFill>
          <a:ln w="12700">
            <a:solidFill>
              <a:srgbClr val="7B3F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960120"/>
            <a:ext cx="475488" cy="475488"/>
          </a:xfrm>
          <a:prstGeom prst="ellipse">
            <a:avLst/>
          </a:prstGeom>
          <a:solidFill>
            <a:srgbClr val="7B3FBE">
              <a:alpha val="75000"/>
            </a:srgbClr>
          </a:solidFill>
          <a:ln w="12700">
            <a:solidFill>
              <a:srgbClr val="7B3FBE">
                <a:alpha val="75000"/>
              </a:srgbClr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996696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0392" y="98755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Patterns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56032" y="1481328"/>
            <a:ext cx="2606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how intraday and monthly volatility changes over time across NIFTY 50 companies.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163824" y="822960"/>
            <a:ext cx="2834640" cy="1938528"/>
          </a:xfrm>
          <a:prstGeom prst="rect">
            <a:avLst/>
          </a:prstGeom>
          <a:solidFill>
            <a:srgbClr val="FFFFFF"/>
          </a:solidFill>
          <a:ln w="15240">
            <a:solidFill>
              <a:srgbClr val="E0D5F5"/>
            </a:solidFill>
            <a:prstDash val="solid"/>
          </a:ln>
          <a:effectLst>
            <a:outerShdw blurRad="101600" dist="25400" dir="8100000" algn="bl" rotWithShape="0">
              <a:srgbClr val="9B6FE8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63824" y="822960"/>
            <a:ext cx="2834640" cy="54864"/>
          </a:xfrm>
          <a:prstGeom prst="rect">
            <a:avLst/>
          </a:prstGeom>
          <a:solidFill>
            <a:srgbClr val="6ECFB4"/>
          </a:solidFill>
          <a:ln w="12700">
            <a:solidFill>
              <a:srgbClr val="6ECFB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55264" y="960120"/>
            <a:ext cx="475488" cy="475488"/>
          </a:xfrm>
          <a:prstGeom prst="ellipse">
            <a:avLst/>
          </a:prstGeom>
          <a:solidFill>
            <a:srgbClr val="6ECFB4">
              <a:alpha val="75000"/>
            </a:srgbClr>
          </a:solidFill>
          <a:ln w="12700">
            <a:solidFill>
              <a:srgbClr val="6ECFB4">
                <a:alpha val="75000"/>
              </a:srgbClr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996696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849624" y="98755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Trends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3255264" y="1481328"/>
            <a:ext cx="2606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daily and monthly return distributions to identify performance patterns.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163056" y="822960"/>
            <a:ext cx="2834640" cy="1938528"/>
          </a:xfrm>
          <a:prstGeom prst="rect">
            <a:avLst/>
          </a:prstGeom>
          <a:solidFill>
            <a:srgbClr val="FFFFFF"/>
          </a:solidFill>
          <a:ln w="15240">
            <a:solidFill>
              <a:srgbClr val="E0D5F5"/>
            </a:solidFill>
            <a:prstDash val="solid"/>
          </a:ln>
          <a:effectLst>
            <a:outerShdw blurRad="101600" dist="25400" dir="8100000" algn="bl" rotWithShape="0">
              <a:srgbClr val="9B6FE8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63056" y="822960"/>
            <a:ext cx="2834640" cy="54864"/>
          </a:xfrm>
          <a:prstGeom prst="rect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254496" y="960120"/>
            <a:ext cx="475488" cy="475488"/>
          </a:xfrm>
          <a:prstGeom prst="ellipse">
            <a:avLst/>
          </a:prstGeom>
          <a:solidFill>
            <a:srgbClr val="E8C96A">
              <a:alpha val="75000"/>
            </a:srgbClr>
          </a:solidFill>
          <a:ln w="12700">
            <a:solidFill>
              <a:srgbClr val="E8C96A">
                <a:alpha val="7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996696"/>
            <a:ext cx="402336" cy="40233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48856" y="98755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Distribution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6254496" y="1481328"/>
            <a:ext cx="2606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volume behaviour, identify skewness, and detect unusual trading activity.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164592" y="2944368"/>
            <a:ext cx="2834640" cy="1938528"/>
          </a:xfrm>
          <a:prstGeom prst="rect">
            <a:avLst/>
          </a:prstGeom>
          <a:solidFill>
            <a:srgbClr val="FFFFFF"/>
          </a:solidFill>
          <a:ln w="15240">
            <a:solidFill>
              <a:srgbClr val="E0D5F5"/>
            </a:solidFill>
            <a:prstDash val="solid"/>
          </a:ln>
          <a:effectLst>
            <a:outerShdw blurRad="101600" dist="25400" dir="8100000" algn="bl" rotWithShape="0">
              <a:srgbClr val="9B6FE8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164592" y="2944368"/>
            <a:ext cx="2834640" cy="54864"/>
          </a:xfrm>
          <a:prstGeom prst="rect">
            <a:avLst/>
          </a:prstGeom>
          <a:solidFill>
            <a:srgbClr val="F07A7A"/>
          </a:solidFill>
          <a:ln w="12700">
            <a:solidFill>
              <a:srgbClr val="F07A7A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256032" y="3081528"/>
            <a:ext cx="475488" cy="475488"/>
          </a:xfrm>
          <a:prstGeom prst="ellipse">
            <a:avLst/>
          </a:prstGeom>
          <a:solidFill>
            <a:srgbClr val="F07A7A">
              <a:alpha val="75000"/>
            </a:srgbClr>
          </a:solidFill>
          <a:ln w="12700">
            <a:solidFill>
              <a:srgbClr val="F07A7A">
                <a:alpha val="75000"/>
              </a:srgbClr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608" y="3118104"/>
            <a:ext cx="402336" cy="40233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50392" y="31089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256032" y="3602736"/>
            <a:ext cx="2606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frequency and magnitude of gap-up and gap-down openings.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3163824" y="2944368"/>
            <a:ext cx="2834640" cy="1938528"/>
          </a:xfrm>
          <a:prstGeom prst="rect">
            <a:avLst/>
          </a:prstGeom>
          <a:solidFill>
            <a:srgbClr val="FFFFFF"/>
          </a:solidFill>
          <a:ln w="15240">
            <a:solidFill>
              <a:srgbClr val="E0D5F5"/>
            </a:solidFill>
            <a:prstDash val="solid"/>
          </a:ln>
          <a:effectLst>
            <a:outerShdw blurRad="101600" dist="25400" dir="8100000" algn="bl" rotWithShape="0">
              <a:srgbClr val="9B6FE8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163824" y="2944368"/>
            <a:ext cx="2834640" cy="54864"/>
          </a:xfrm>
          <a:prstGeom prst="rect">
            <a:avLst/>
          </a:prstGeom>
          <a:solidFill>
            <a:srgbClr val="9B6FE8"/>
          </a:solidFill>
          <a:ln w="12700">
            <a:solidFill>
              <a:srgbClr val="9B6FE8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3255264" y="3081528"/>
            <a:ext cx="475488" cy="475488"/>
          </a:xfrm>
          <a:prstGeom prst="ellipse">
            <a:avLst/>
          </a:prstGeom>
          <a:solidFill>
            <a:srgbClr val="9B6FE8">
              <a:alpha val="75000"/>
            </a:srgbClr>
          </a:solidFill>
          <a:ln w="12700">
            <a:solidFill>
              <a:srgbClr val="9B6FE8">
                <a:alpha val="75000"/>
              </a:srgbClr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3118104"/>
            <a:ext cx="402336" cy="40233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849624" y="31089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&amp; Monthly Patterns</a:t>
            </a:r>
            <a:endParaRPr lang="en-US" sz="1150" dirty="0"/>
          </a:p>
        </p:txBody>
      </p:sp>
      <p:sp>
        <p:nvSpPr>
          <p:cNvPr id="35" name="Text 28"/>
          <p:cNvSpPr/>
          <p:nvPr/>
        </p:nvSpPr>
        <p:spPr>
          <a:xfrm>
            <a:off x="3255264" y="3602736"/>
            <a:ext cx="2606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seasonal and weekday-level effects on returns and volatility.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6163056" y="2944368"/>
            <a:ext cx="2834640" cy="1938528"/>
          </a:xfrm>
          <a:prstGeom prst="rect">
            <a:avLst/>
          </a:prstGeom>
          <a:solidFill>
            <a:srgbClr val="FFFFFF"/>
          </a:solidFill>
          <a:ln w="15240">
            <a:solidFill>
              <a:srgbClr val="E0D5F5"/>
            </a:solidFill>
            <a:prstDash val="solid"/>
          </a:ln>
          <a:effectLst>
            <a:outerShdw blurRad="101600" dist="25400" dir="8100000" algn="bl" rotWithShape="0">
              <a:srgbClr val="9B6FE8">
                <a:alpha val="1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163056" y="2944368"/>
            <a:ext cx="2834640" cy="54864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6254496" y="3081528"/>
            <a:ext cx="475488" cy="475488"/>
          </a:xfrm>
          <a:prstGeom prst="ellipse">
            <a:avLst/>
          </a:prstGeom>
          <a:solidFill>
            <a:srgbClr val="5B9BD5">
              <a:alpha val="75000"/>
            </a:srgbClr>
          </a:solidFill>
          <a:ln w="12700">
            <a:solidFill>
              <a:srgbClr val="5B9BD5">
                <a:alpha val="75000"/>
              </a:srgbClr>
            </a:solidFill>
            <a:prstDash val="solid"/>
          </a:ln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1072" y="3118104"/>
            <a:ext cx="402336" cy="40233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848856" y="31089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150" dirty="0"/>
          </a:p>
        </p:txBody>
      </p:sp>
      <p:sp>
        <p:nvSpPr>
          <p:cNvPr id="41" name="Text 33"/>
          <p:cNvSpPr/>
          <p:nvPr/>
        </p:nvSpPr>
        <p:spPr>
          <a:xfrm>
            <a:off x="6254496" y="3602736"/>
            <a:ext cx="2606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risk exposure and support better investment decision-making.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64008" cy="4640580"/>
          </a:xfrm>
          <a:prstGeom prst="rect">
            <a:avLst/>
          </a:prstGeom>
          <a:solidFill>
            <a:srgbClr val="7B3FBE"/>
          </a:solidFill>
          <a:ln w="12700">
            <a:solidFill>
              <a:srgbClr val="7B3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4114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46304" y="576775"/>
            <a:ext cx="8823960" cy="579907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F8"/>
            </a:solidFill>
            <a:prstDash val="solid"/>
          </a:ln>
          <a:effectLst>
            <a:outerShdw blurRad="63500" dist="12700" dir="8100000" algn="bl" rotWithShape="0">
              <a:srgbClr val="9B6FE8">
                <a:alpha val="8000"/>
              </a:srgbClr>
            </a:outerShdw>
          </a:effectLst>
        </p:spPr>
        <p:txBody>
          <a:bodyPr/>
          <a:lstStyle/>
          <a:p>
            <a:r>
              <a:rPr lang="en-US" dirty="0"/>
              <a:t>1. </a:t>
            </a:r>
            <a:endParaRPr lang="en-IN" dirty="0"/>
          </a:p>
        </p:txBody>
      </p:sp>
      <p:sp>
        <p:nvSpPr>
          <p:cNvPr id="8" name="Shape 6"/>
          <p:cNvSpPr/>
          <p:nvPr/>
        </p:nvSpPr>
        <p:spPr>
          <a:xfrm>
            <a:off x="173736" y="573662"/>
            <a:ext cx="594360" cy="569338"/>
          </a:xfrm>
          <a:prstGeom prst="rect">
            <a:avLst/>
          </a:prstGeom>
          <a:solidFill>
            <a:srgbClr val="7B3FBE"/>
          </a:solidFill>
          <a:ln w="12700">
            <a:solidFill>
              <a:srgbClr val="7B3FB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164592" y="598932"/>
            <a:ext cx="59436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0392" y="54406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30811" y="873485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Intraday Volatility Analysis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55448" y="1188720"/>
            <a:ext cx="88239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F8"/>
            </a:solidFill>
            <a:prstDash val="solid"/>
          </a:ln>
          <a:effectLst>
            <a:outerShdw blurRad="63500" dist="12700" dir="8100000" algn="bl" rotWithShape="0">
              <a:srgbClr val="9B6FE8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64592" y="1199271"/>
            <a:ext cx="594360" cy="592953"/>
          </a:xfrm>
          <a:prstGeom prst="rect">
            <a:avLst/>
          </a:prstGeom>
          <a:solidFill>
            <a:srgbClr val="6ECFB4"/>
          </a:solidFill>
          <a:ln w="12700">
            <a:solidFill>
              <a:srgbClr val="6ECF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5448" y="1199270"/>
            <a:ext cx="594360" cy="592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1208415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0811" y="152965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Volume Companies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55448" y="1837944"/>
            <a:ext cx="8823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F8"/>
            </a:solidFill>
            <a:prstDash val="solid"/>
          </a:ln>
          <a:effectLst>
            <a:outerShdw blurRad="63500" dist="12700" dir="8100000" algn="bl" rotWithShape="0">
              <a:srgbClr val="9B6FE8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55448" y="1854821"/>
            <a:ext cx="594360" cy="604208"/>
          </a:xfrm>
          <a:prstGeom prst="rect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3736" y="1846382"/>
            <a:ext cx="594360" cy="604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68680" y="1863969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30811" y="2165786"/>
            <a:ext cx="11148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By Session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55448" y="2507286"/>
            <a:ext cx="8823960" cy="571676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F8"/>
            </a:solidFill>
            <a:prstDash val="solid"/>
          </a:ln>
          <a:effectLst>
            <a:outerShdw blurRad="63500" dist="12700" dir="8100000" algn="bl" rotWithShape="0">
              <a:srgbClr val="9B6FE8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55448" y="2516055"/>
            <a:ext cx="594360" cy="548640"/>
          </a:xfrm>
          <a:prstGeom prst="rect">
            <a:avLst/>
          </a:prstGeom>
          <a:solidFill>
            <a:srgbClr val="F07A7A"/>
          </a:solidFill>
          <a:ln w="12700">
            <a:solidFill>
              <a:srgbClr val="F07A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3736" y="2537106"/>
            <a:ext cx="566928" cy="521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50392" y="2479431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-547936" y="272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Price Ra</a:t>
            </a:r>
          </a:p>
        </p:txBody>
      </p:sp>
      <p:sp>
        <p:nvSpPr>
          <p:cNvPr id="35" name="Shape 33"/>
          <p:cNvSpPr/>
          <p:nvPr/>
        </p:nvSpPr>
        <p:spPr>
          <a:xfrm>
            <a:off x="155448" y="3120390"/>
            <a:ext cx="8823960" cy="621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F8"/>
            </a:solidFill>
            <a:prstDash val="solid"/>
          </a:ln>
          <a:effectLst>
            <a:outerShdw blurRad="63500" dist="12700" dir="8100000" algn="bl" rotWithShape="0">
              <a:srgbClr val="9B6FE8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55448" y="3131468"/>
            <a:ext cx="594360" cy="616868"/>
          </a:xfrm>
          <a:prstGeom prst="rect">
            <a:avLst/>
          </a:prstGeom>
          <a:solidFill>
            <a:srgbClr val="9B6FE8"/>
          </a:solidFill>
          <a:ln w="12700">
            <a:solidFill>
              <a:srgbClr val="9B6FE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7" name="Text 35"/>
          <p:cNvSpPr/>
          <p:nvPr/>
        </p:nvSpPr>
        <p:spPr>
          <a:xfrm>
            <a:off x="173736" y="3196458"/>
            <a:ext cx="594360" cy="51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50392" y="3099289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68680" y="3465839"/>
            <a:ext cx="2743200" cy="331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2" name="Shape 33">
            <a:extLst>
              <a:ext uri="{FF2B5EF4-FFF2-40B4-BE49-F238E27FC236}">
                <a16:creationId xmlns:a16="http://schemas.microsoft.com/office/drawing/2014/main" id="{39883331-F738-2978-318A-19800106979D}"/>
              </a:ext>
            </a:extLst>
          </p:cNvPr>
          <p:cNvSpPr/>
          <p:nvPr/>
        </p:nvSpPr>
        <p:spPr>
          <a:xfrm>
            <a:off x="155448" y="3794636"/>
            <a:ext cx="8823960" cy="6168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F8"/>
            </a:solidFill>
            <a:prstDash val="solid"/>
          </a:ln>
          <a:effectLst>
            <a:outerShdw blurRad="63500" dist="12700" dir="8100000" algn="bl" rotWithShape="0">
              <a:srgbClr val="9B6FE8">
                <a:alpha val="8000"/>
              </a:srgbClr>
            </a:outerShdw>
          </a:effectLst>
        </p:spPr>
      </p:sp>
      <p:sp>
        <p:nvSpPr>
          <p:cNvPr id="43" name="Shape 33">
            <a:extLst>
              <a:ext uri="{FF2B5EF4-FFF2-40B4-BE49-F238E27FC236}">
                <a16:creationId xmlns:a16="http://schemas.microsoft.com/office/drawing/2014/main" id="{8C28595C-D1C5-B87E-ECDB-01B402A79889}"/>
              </a:ext>
            </a:extLst>
          </p:cNvPr>
          <p:cNvSpPr/>
          <p:nvPr/>
        </p:nvSpPr>
        <p:spPr>
          <a:xfrm>
            <a:off x="164592" y="4482246"/>
            <a:ext cx="88239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F8"/>
            </a:solidFill>
            <a:prstDash val="solid"/>
          </a:ln>
          <a:effectLst>
            <a:outerShdw blurRad="63500" dist="12700" dir="8100000" algn="bl" rotWithShape="0">
              <a:srgbClr val="9B6FE8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4" name="Shape 20">
            <a:extLst>
              <a:ext uri="{FF2B5EF4-FFF2-40B4-BE49-F238E27FC236}">
                <a16:creationId xmlns:a16="http://schemas.microsoft.com/office/drawing/2014/main" id="{0E2D29EB-00A0-4496-9ED3-2978B6E1E9CB}"/>
              </a:ext>
            </a:extLst>
          </p:cNvPr>
          <p:cNvSpPr/>
          <p:nvPr/>
        </p:nvSpPr>
        <p:spPr>
          <a:xfrm>
            <a:off x="164592" y="3794636"/>
            <a:ext cx="594360" cy="604208"/>
          </a:xfrm>
          <a:prstGeom prst="rect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</p:spPr>
      </p:sp>
      <p:sp>
        <p:nvSpPr>
          <p:cNvPr id="45" name="Shape 6">
            <a:extLst>
              <a:ext uri="{FF2B5EF4-FFF2-40B4-BE49-F238E27FC236}">
                <a16:creationId xmlns:a16="http://schemas.microsoft.com/office/drawing/2014/main" id="{D3E604A3-F98F-9CEA-B4C2-4C1813BD55F4}"/>
              </a:ext>
            </a:extLst>
          </p:cNvPr>
          <p:cNvSpPr/>
          <p:nvPr/>
        </p:nvSpPr>
        <p:spPr>
          <a:xfrm>
            <a:off x="177253" y="4492445"/>
            <a:ext cx="594360" cy="589085"/>
          </a:xfrm>
          <a:prstGeom prst="rect">
            <a:avLst/>
          </a:prstGeom>
          <a:solidFill>
            <a:srgbClr val="7B3FBE"/>
          </a:solidFill>
          <a:ln w="12700">
            <a:solidFill>
              <a:srgbClr val="7B3FB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375660C-0B0C-CBA5-9BCF-3EE1D1E4955E}"/>
              </a:ext>
            </a:extLst>
          </p:cNvPr>
          <p:cNvSpPr txBox="1"/>
          <p:nvPr/>
        </p:nvSpPr>
        <p:spPr>
          <a:xfrm>
            <a:off x="263066" y="3908430"/>
            <a:ext cx="486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06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37C3B06-D8CF-7F14-C7F3-0C8CC12EC104}"/>
              </a:ext>
            </a:extLst>
          </p:cNvPr>
          <p:cNvSpPr txBox="1"/>
          <p:nvPr/>
        </p:nvSpPr>
        <p:spPr>
          <a:xfrm>
            <a:off x="253922" y="4583943"/>
            <a:ext cx="486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07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DE7F15E-8FA8-6637-FB83-442FC0FE3E18}"/>
              </a:ext>
            </a:extLst>
          </p:cNvPr>
          <p:cNvSpPr txBox="1"/>
          <p:nvPr/>
        </p:nvSpPr>
        <p:spPr>
          <a:xfrm>
            <a:off x="850392" y="598932"/>
            <a:ext cx="5942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1. Which companies show highest intraday volatility?</a:t>
            </a:r>
            <a:endParaRPr lang="en-IN" sz="12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48CB39C-A7A3-133A-2151-FA057C78C791}"/>
              </a:ext>
            </a:extLst>
          </p:cNvPr>
          <p:cNvSpPr txBox="1"/>
          <p:nvPr/>
        </p:nvSpPr>
        <p:spPr>
          <a:xfrm>
            <a:off x="841248" y="1840753"/>
            <a:ext cx="33642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3. Which session has highest volume activity?</a:t>
            </a:r>
          </a:p>
          <a:p>
            <a:endParaRPr lang="en-US" sz="1200" b="1" dirty="0"/>
          </a:p>
          <a:p>
            <a:endParaRPr lang="en-IN" sz="12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DDB039-A338-E68B-CF99-C88DF7E15D4E}"/>
              </a:ext>
            </a:extLst>
          </p:cNvPr>
          <p:cNvSpPr txBox="1"/>
          <p:nvPr/>
        </p:nvSpPr>
        <p:spPr>
          <a:xfrm>
            <a:off x="850392" y="2519491"/>
            <a:ext cx="5653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4. Which companies have largest daily price ranges?</a:t>
            </a:r>
          </a:p>
          <a:p>
            <a:endParaRPr lang="en-IN" sz="12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290833A-B7AA-06C5-F49E-CABE0934A1DA}"/>
              </a:ext>
            </a:extLst>
          </p:cNvPr>
          <p:cNvSpPr txBox="1"/>
          <p:nvPr/>
        </p:nvSpPr>
        <p:spPr>
          <a:xfrm>
            <a:off x="841247" y="3146976"/>
            <a:ext cx="3157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5. Which companies give best/worst returns?</a:t>
            </a:r>
          </a:p>
          <a:p>
            <a:endParaRPr lang="en-IN" sz="12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3353562-ED04-8D67-8EA3-5B8721245FCE}"/>
              </a:ext>
            </a:extLst>
          </p:cNvPr>
          <p:cNvSpPr txBox="1"/>
          <p:nvPr/>
        </p:nvSpPr>
        <p:spPr>
          <a:xfrm>
            <a:off x="841248" y="3831486"/>
            <a:ext cx="5942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6. What percentage of days are bullish vs bearish?</a:t>
            </a:r>
          </a:p>
          <a:p>
            <a:endParaRPr lang="en-IN" sz="12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DB55F62-7C21-5EBB-A3D5-E2718791E3D1}"/>
              </a:ext>
            </a:extLst>
          </p:cNvPr>
          <p:cNvSpPr txBox="1"/>
          <p:nvPr/>
        </p:nvSpPr>
        <p:spPr>
          <a:xfrm>
            <a:off x="850392" y="4506999"/>
            <a:ext cx="5942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7. Which months have highest trading activity?</a:t>
            </a:r>
          </a:p>
          <a:p>
            <a:endParaRPr lang="en-IN" sz="12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C9D6D62-3CD7-166C-CBD3-C75DFFE6ECCF}"/>
              </a:ext>
            </a:extLst>
          </p:cNvPr>
          <p:cNvSpPr txBox="1"/>
          <p:nvPr/>
        </p:nvSpPr>
        <p:spPr>
          <a:xfrm>
            <a:off x="841247" y="1230537"/>
            <a:ext cx="5942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2. Which companies have most daily trading activity?</a:t>
            </a:r>
            <a:endParaRPr lang="en-IN" sz="1200" b="1" dirty="0"/>
          </a:p>
        </p:txBody>
      </p:sp>
      <p:sp>
        <p:nvSpPr>
          <p:cNvPr id="58" name="Text 23">
            <a:extLst>
              <a:ext uri="{FF2B5EF4-FFF2-40B4-BE49-F238E27FC236}">
                <a16:creationId xmlns:a16="http://schemas.microsoft.com/office/drawing/2014/main" id="{3B3DEF53-D9B0-5BAC-6309-03724919B5E2}"/>
              </a:ext>
            </a:extLst>
          </p:cNvPr>
          <p:cNvSpPr/>
          <p:nvPr/>
        </p:nvSpPr>
        <p:spPr>
          <a:xfrm>
            <a:off x="1030811" y="2804607"/>
            <a:ext cx="14528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 By Company</a:t>
            </a:r>
            <a:endParaRPr lang="en-US" sz="1050" dirty="0"/>
          </a:p>
        </p:txBody>
      </p:sp>
      <p:sp>
        <p:nvSpPr>
          <p:cNvPr id="59" name="Text 23">
            <a:extLst>
              <a:ext uri="{FF2B5EF4-FFF2-40B4-BE49-F238E27FC236}">
                <a16:creationId xmlns:a16="http://schemas.microsoft.com/office/drawing/2014/main" id="{216F8FA0-E438-0D43-ABC9-B308DB1DD30E}"/>
              </a:ext>
            </a:extLst>
          </p:cNvPr>
          <p:cNvSpPr/>
          <p:nvPr/>
        </p:nvSpPr>
        <p:spPr>
          <a:xfrm>
            <a:off x="1030811" y="3454362"/>
            <a:ext cx="13156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By Company</a:t>
            </a:r>
            <a:endParaRPr lang="en-US" sz="1050" dirty="0"/>
          </a:p>
        </p:txBody>
      </p:sp>
      <p:sp>
        <p:nvSpPr>
          <p:cNvPr id="60" name="Text 23">
            <a:extLst>
              <a:ext uri="{FF2B5EF4-FFF2-40B4-BE49-F238E27FC236}">
                <a16:creationId xmlns:a16="http://schemas.microsoft.com/office/drawing/2014/main" id="{A2CE5850-853C-BF83-C9F4-39A635BD4EC9}"/>
              </a:ext>
            </a:extLst>
          </p:cNvPr>
          <p:cNvSpPr/>
          <p:nvPr/>
        </p:nvSpPr>
        <p:spPr>
          <a:xfrm>
            <a:off x="1030811" y="4126970"/>
            <a:ext cx="1616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VS Negative Days</a:t>
            </a:r>
            <a:endParaRPr lang="en-US" sz="1050" dirty="0"/>
          </a:p>
        </p:txBody>
      </p:sp>
      <p:sp>
        <p:nvSpPr>
          <p:cNvPr id="61" name="Text 23">
            <a:extLst>
              <a:ext uri="{FF2B5EF4-FFF2-40B4-BE49-F238E27FC236}">
                <a16:creationId xmlns:a16="http://schemas.microsoft.com/office/drawing/2014/main" id="{7B25B763-8AFA-3E50-75D2-CF790E0334DA}"/>
              </a:ext>
            </a:extLst>
          </p:cNvPr>
          <p:cNvSpPr/>
          <p:nvPr/>
        </p:nvSpPr>
        <p:spPr>
          <a:xfrm>
            <a:off x="1030811" y="4793142"/>
            <a:ext cx="13771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Wise Volume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B1A915-F286-4299-F62A-090321A6A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4D0025D-ECAD-526F-2843-DE80D7470F05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1103C65-CBC6-84A2-00C2-20A3B5CF43AE}"/>
              </a:ext>
            </a:extLst>
          </p:cNvPr>
          <p:cNvSpPr/>
          <p:nvPr/>
        </p:nvSpPr>
        <p:spPr>
          <a:xfrm>
            <a:off x="0" y="502920"/>
            <a:ext cx="64008" cy="4640580"/>
          </a:xfrm>
          <a:prstGeom prst="rect">
            <a:avLst/>
          </a:prstGeom>
          <a:solidFill>
            <a:srgbClr val="7B3FBE"/>
          </a:solidFill>
          <a:ln w="12700">
            <a:solidFill>
              <a:srgbClr val="7B3FBE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1739DB1-1C57-B90D-A067-C00DDE35F014}"/>
              </a:ext>
            </a:extLst>
          </p:cNvPr>
          <p:cNvSpPr/>
          <p:nvPr/>
        </p:nvSpPr>
        <p:spPr>
          <a:xfrm>
            <a:off x="685800" y="4114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Statements</a:t>
            </a:r>
            <a:endParaRPr lang="en-US" sz="32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07A630D-FC26-5DA7-8A3E-62CE677002FB}"/>
              </a:ext>
            </a:extLst>
          </p:cNvPr>
          <p:cNvSpPr/>
          <p:nvPr/>
        </p:nvSpPr>
        <p:spPr>
          <a:xfrm>
            <a:off x="146304" y="576775"/>
            <a:ext cx="8823960" cy="579907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F8"/>
            </a:solidFill>
            <a:prstDash val="solid"/>
          </a:ln>
          <a:effectLst>
            <a:outerShdw blurRad="63500" dist="12700" dir="8100000" algn="bl" rotWithShape="0">
              <a:srgbClr val="9B6FE8">
                <a:alpha val="8000"/>
              </a:srgbClr>
            </a:outerShdw>
          </a:effectLst>
        </p:spPr>
        <p:txBody>
          <a:bodyPr/>
          <a:lstStyle/>
          <a:p>
            <a:r>
              <a:rPr lang="en-US" dirty="0"/>
              <a:t>1. </a:t>
            </a:r>
            <a:endParaRPr lang="en-IN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3B85036-48F0-060A-E323-501C5A6DE9F1}"/>
              </a:ext>
            </a:extLst>
          </p:cNvPr>
          <p:cNvSpPr/>
          <p:nvPr/>
        </p:nvSpPr>
        <p:spPr>
          <a:xfrm>
            <a:off x="173736" y="573662"/>
            <a:ext cx="594360" cy="569338"/>
          </a:xfrm>
          <a:prstGeom prst="rect">
            <a:avLst/>
          </a:prstGeom>
          <a:solidFill>
            <a:srgbClr val="7B3FBE"/>
          </a:solidFill>
          <a:ln w="12700">
            <a:solidFill>
              <a:srgbClr val="7B3FB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B2B8B03-FEB3-C71E-4BB0-C4F6FE5EF391}"/>
              </a:ext>
            </a:extLst>
          </p:cNvPr>
          <p:cNvSpPr/>
          <p:nvPr/>
        </p:nvSpPr>
        <p:spPr>
          <a:xfrm>
            <a:off x="164592" y="598932"/>
            <a:ext cx="59436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398F9E9-EF00-A543-C1A1-96DA8D678BEE}"/>
              </a:ext>
            </a:extLst>
          </p:cNvPr>
          <p:cNvSpPr/>
          <p:nvPr/>
        </p:nvSpPr>
        <p:spPr>
          <a:xfrm>
            <a:off x="850392" y="54406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2CDE95B-B01E-19EE-FAAD-88DA4912FCEF}"/>
              </a:ext>
            </a:extLst>
          </p:cNvPr>
          <p:cNvSpPr/>
          <p:nvPr/>
        </p:nvSpPr>
        <p:spPr>
          <a:xfrm>
            <a:off x="988081" y="871992"/>
            <a:ext cx="17749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Consistency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FF730C4-D496-C0B9-7AA9-4872589552ED}"/>
              </a:ext>
            </a:extLst>
          </p:cNvPr>
          <p:cNvSpPr/>
          <p:nvPr/>
        </p:nvSpPr>
        <p:spPr>
          <a:xfrm>
            <a:off x="164592" y="1208415"/>
            <a:ext cx="880567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F8"/>
            </a:solidFill>
            <a:prstDash val="solid"/>
          </a:ln>
          <a:effectLst>
            <a:outerShdw blurRad="63500" dist="12700" dir="8100000" algn="bl" rotWithShape="0">
              <a:srgbClr val="9B6FE8">
                <a:alpha val="8000"/>
              </a:srgbClr>
            </a:outerShdw>
          </a:effectLst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EADF4F3-95A3-33B3-F5A7-A3DE7C026898}"/>
              </a:ext>
            </a:extLst>
          </p:cNvPr>
          <p:cNvSpPr/>
          <p:nvPr/>
        </p:nvSpPr>
        <p:spPr>
          <a:xfrm>
            <a:off x="164592" y="1199271"/>
            <a:ext cx="594360" cy="592953"/>
          </a:xfrm>
          <a:prstGeom prst="rect">
            <a:avLst/>
          </a:prstGeom>
          <a:solidFill>
            <a:srgbClr val="6ECFB4"/>
          </a:solidFill>
          <a:ln w="12700">
            <a:solidFill>
              <a:srgbClr val="6ECFB4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51EE0BE-371D-7FB6-DA1B-D3726C7F0F9B}"/>
              </a:ext>
            </a:extLst>
          </p:cNvPr>
          <p:cNvSpPr/>
          <p:nvPr/>
        </p:nvSpPr>
        <p:spPr>
          <a:xfrm>
            <a:off x="155448" y="1199270"/>
            <a:ext cx="594360" cy="592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DA0C600-01CD-BED2-C70D-CE5DD9965007}"/>
              </a:ext>
            </a:extLst>
          </p:cNvPr>
          <p:cNvSpPr/>
          <p:nvPr/>
        </p:nvSpPr>
        <p:spPr>
          <a:xfrm>
            <a:off x="868680" y="1208415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6372166-56A4-0D62-ECFF-8541CAD8F37D}"/>
              </a:ext>
            </a:extLst>
          </p:cNvPr>
          <p:cNvSpPr/>
          <p:nvPr/>
        </p:nvSpPr>
        <p:spPr>
          <a:xfrm>
            <a:off x="1030811" y="152965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ED35194-4F70-C2DA-A4D3-6A8DD08303FB}"/>
              </a:ext>
            </a:extLst>
          </p:cNvPr>
          <p:cNvSpPr/>
          <p:nvPr/>
        </p:nvSpPr>
        <p:spPr>
          <a:xfrm>
            <a:off x="155448" y="1837944"/>
            <a:ext cx="8823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F8"/>
            </a:solidFill>
            <a:prstDash val="solid"/>
          </a:ln>
          <a:effectLst>
            <a:outerShdw blurRad="63500" dist="12700" dir="8100000" algn="bl" rotWithShape="0">
              <a:srgbClr val="9B6FE8">
                <a:alpha val="8000"/>
              </a:srgbClr>
            </a:outerShdw>
          </a:effectLst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AF7AB55D-00F3-3F30-516B-BD1D0EBCD63D}"/>
              </a:ext>
            </a:extLst>
          </p:cNvPr>
          <p:cNvSpPr/>
          <p:nvPr/>
        </p:nvSpPr>
        <p:spPr>
          <a:xfrm>
            <a:off x="155448" y="1854821"/>
            <a:ext cx="594360" cy="604208"/>
          </a:xfrm>
          <a:prstGeom prst="rect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4CB6553-E000-9599-7609-72202EFA44A3}"/>
              </a:ext>
            </a:extLst>
          </p:cNvPr>
          <p:cNvSpPr/>
          <p:nvPr/>
        </p:nvSpPr>
        <p:spPr>
          <a:xfrm>
            <a:off x="173736" y="1846382"/>
            <a:ext cx="594360" cy="604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9F98F65-C23A-6EB5-9314-CD3078E4D86C}"/>
              </a:ext>
            </a:extLst>
          </p:cNvPr>
          <p:cNvSpPr/>
          <p:nvPr/>
        </p:nvSpPr>
        <p:spPr>
          <a:xfrm>
            <a:off x="868680" y="1863969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47777392-2135-0B7E-A4A2-1BFF31AFD91F}"/>
              </a:ext>
            </a:extLst>
          </p:cNvPr>
          <p:cNvSpPr/>
          <p:nvPr/>
        </p:nvSpPr>
        <p:spPr>
          <a:xfrm>
            <a:off x="1030811" y="2165786"/>
            <a:ext cx="3618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6CCB804C-5315-B4D0-E9F0-D840CEFAEF82}"/>
              </a:ext>
            </a:extLst>
          </p:cNvPr>
          <p:cNvSpPr/>
          <p:nvPr/>
        </p:nvSpPr>
        <p:spPr>
          <a:xfrm>
            <a:off x="155448" y="2507286"/>
            <a:ext cx="8823960" cy="571676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F8"/>
            </a:solidFill>
            <a:prstDash val="solid"/>
          </a:ln>
          <a:effectLst>
            <a:outerShdw blurRad="63500" dist="12700" dir="8100000" algn="bl" rotWithShape="0">
              <a:srgbClr val="9B6FE8">
                <a:alpha val="8000"/>
              </a:srgbClr>
            </a:outerShdw>
          </a:effectLst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701B6830-CC8A-12A4-F3B6-83D4139D2E90}"/>
              </a:ext>
            </a:extLst>
          </p:cNvPr>
          <p:cNvSpPr/>
          <p:nvPr/>
        </p:nvSpPr>
        <p:spPr>
          <a:xfrm>
            <a:off x="155448" y="2516055"/>
            <a:ext cx="594360" cy="548640"/>
          </a:xfrm>
          <a:prstGeom prst="rect">
            <a:avLst/>
          </a:prstGeom>
          <a:solidFill>
            <a:srgbClr val="F07A7A"/>
          </a:solidFill>
          <a:ln w="12700">
            <a:solidFill>
              <a:srgbClr val="F07A7A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94013AF-E4E2-0957-B403-9706A6D54782}"/>
              </a:ext>
            </a:extLst>
          </p:cNvPr>
          <p:cNvSpPr/>
          <p:nvPr/>
        </p:nvSpPr>
        <p:spPr>
          <a:xfrm>
            <a:off x="173736" y="2537106"/>
            <a:ext cx="566928" cy="521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042E0941-2444-D1E9-681D-D3A2884099B5}"/>
              </a:ext>
            </a:extLst>
          </p:cNvPr>
          <p:cNvSpPr/>
          <p:nvPr/>
        </p:nvSpPr>
        <p:spPr>
          <a:xfrm>
            <a:off x="850392" y="2479431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1F2AC495-55D1-5A47-74AF-1D7E4CEB4FE5}"/>
              </a:ext>
            </a:extLst>
          </p:cNvPr>
          <p:cNvSpPr/>
          <p:nvPr/>
        </p:nvSpPr>
        <p:spPr>
          <a:xfrm>
            <a:off x="-547936" y="272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Price Ra</a:t>
            </a: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7CF4CCAE-394F-1A20-51E8-338C4815BB68}"/>
              </a:ext>
            </a:extLst>
          </p:cNvPr>
          <p:cNvSpPr/>
          <p:nvPr/>
        </p:nvSpPr>
        <p:spPr>
          <a:xfrm>
            <a:off x="155448" y="3120390"/>
            <a:ext cx="8823960" cy="621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F8"/>
            </a:solidFill>
            <a:prstDash val="solid"/>
          </a:ln>
          <a:effectLst>
            <a:outerShdw blurRad="63500" dist="12700" dir="8100000" algn="bl" rotWithShape="0">
              <a:srgbClr val="9B6FE8">
                <a:alpha val="8000"/>
              </a:srgbClr>
            </a:outerShdw>
          </a:effectLst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9100611F-84C1-06A7-5AF1-8F88A59360ED}"/>
              </a:ext>
            </a:extLst>
          </p:cNvPr>
          <p:cNvSpPr/>
          <p:nvPr/>
        </p:nvSpPr>
        <p:spPr>
          <a:xfrm>
            <a:off x="155448" y="3131468"/>
            <a:ext cx="594360" cy="616868"/>
          </a:xfrm>
          <a:prstGeom prst="rect">
            <a:avLst/>
          </a:prstGeom>
          <a:solidFill>
            <a:srgbClr val="9B6FE8"/>
          </a:solidFill>
          <a:ln w="12700">
            <a:solidFill>
              <a:srgbClr val="9B6FE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ECB151CB-FBE9-FAFF-83AC-0E6DA6E374AC}"/>
              </a:ext>
            </a:extLst>
          </p:cNvPr>
          <p:cNvSpPr/>
          <p:nvPr/>
        </p:nvSpPr>
        <p:spPr>
          <a:xfrm>
            <a:off x="173736" y="3196458"/>
            <a:ext cx="594360" cy="51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098816A1-0A0F-122A-2E06-2E5419FC9351}"/>
              </a:ext>
            </a:extLst>
          </p:cNvPr>
          <p:cNvSpPr/>
          <p:nvPr/>
        </p:nvSpPr>
        <p:spPr>
          <a:xfrm>
            <a:off x="850392" y="3099289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A4E70084-A02F-E645-BD01-9EC019F6F9FA}"/>
              </a:ext>
            </a:extLst>
          </p:cNvPr>
          <p:cNvSpPr/>
          <p:nvPr/>
        </p:nvSpPr>
        <p:spPr>
          <a:xfrm>
            <a:off x="868680" y="3465839"/>
            <a:ext cx="2743200" cy="331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2" name="Shape 33">
            <a:extLst>
              <a:ext uri="{FF2B5EF4-FFF2-40B4-BE49-F238E27FC236}">
                <a16:creationId xmlns:a16="http://schemas.microsoft.com/office/drawing/2014/main" id="{203DFC48-9EDB-3468-F19E-DF54F7E7ABC0}"/>
              </a:ext>
            </a:extLst>
          </p:cNvPr>
          <p:cNvSpPr/>
          <p:nvPr/>
        </p:nvSpPr>
        <p:spPr>
          <a:xfrm>
            <a:off x="155448" y="3794636"/>
            <a:ext cx="8823960" cy="6168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F8"/>
            </a:solidFill>
            <a:prstDash val="solid"/>
          </a:ln>
          <a:effectLst>
            <a:outerShdw blurRad="63500" dist="12700" dir="8100000" algn="bl" rotWithShape="0">
              <a:srgbClr val="9B6FE8">
                <a:alpha val="8000"/>
              </a:srgbClr>
            </a:outerShdw>
          </a:effectLst>
        </p:spPr>
      </p:sp>
      <p:sp>
        <p:nvSpPr>
          <p:cNvPr id="43" name="Shape 33">
            <a:extLst>
              <a:ext uri="{FF2B5EF4-FFF2-40B4-BE49-F238E27FC236}">
                <a16:creationId xmlns:a16="http://schemas.microsoft.com/office/drawing/2014/main" id="{59B8B0E5-8A2B-4B26-E258-CF4E10A96945}"/>
              </a:ext>
            </a:extLst>
          </p:cNvPr>
          <p:cNvSpPr/>
          <p:nvPr/>
        </p:nvSpPr>
        <p:spPr>
          <a:xfrm>
            <a:off x="164592" y="4482246"/>
            <a:ext cx="88239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F8"/>
            </a:solidFill>
            <a:prstDash val="solid"/>
          </a:ln>
          <a:effectLst>
            <a:outerShdw blurRad="63500" dist="12700" dir="8100000" algn="bl" rotWithShape="0">
              <a:srgbClr val="9B6FE8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4" name="Shape 20">
            <a:extLst>
              <a:ext uri="{FF2B5EF4-FFF2-40B4-BE49-F238E27FC236}">
                <a16:creationId xmlns:a16="http://schemas.microsoft.com/office/drawing/2014/main" id="{95066B10-5F1F-5127-3A7D-79437B7EFF4D}"/>
              </a:ext>
            </a:extLst>
          </p:cNvPr>
          <p:cNvSpPr/>
          <p:nvPr/>
        </p:nvSpPr>
        <p:spPr>
          <a:xfrm>
            <a:off x="164592" y="3794636"/>
            <a:ext cx="594360" cy="604208"/>
          </a:xfrm>
          <a:prstGeom prst="rect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</p:spPr>
      </p:sp>
      <p:sp>
        <p:nvSpPr>
          <p:cNvPr id="45" name="Shape 6">
            <a:extLst>
              <a:ext uri="{FF2B5EF4-FFF2-40B4-BE49-F238E27FC236}">
                <a16:creationId xmlns:a16="http://schemas.microsoft.com/office/drawing/2014/main" id="{7FB6A6EA-98E8-4FE1-6A11-24080333F798}"/>
              </a:ext>
            </a:extLst>
          </p:cNvPr>
          <p:cNvSpPr/>
          <p:nvPr/>
        </p:nvSpPr>
        <p:spPr>
          <a:xfrm>
            <a:off x="177253" y="4492445"/>
            <a:ext cx="594360" cy="589085"/>
          </a:xfrm>
          <a:prstGeom prst="rect">
            <a:avLst/>
          </a:prstGeom>
          <a:solidFill>
            <a:srgbClr val="7B3FBE"/>
          </a:solidFill>
          <a:ln w="12700">
            <a:solidFill>
              <a:srgbClr val="7B3FB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E490984-95EE-FC6E-2151-E33FACED0CB3}"/>
              </a:ext>
            </a:extLst>
          </p:cNvPr>
          <p:cNvSpPr txBox="1"/>
          <p:nvPr/>
        </p:nvSpPr>
        <p:spPr>
          <a:xfrm>
            <a:off x="263066" y="3908430"/>
            <a:ext cx="486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7DF2B81-E266-1F02-87EA-EF8B1B8FF5B4}"/>
              </a:ext>
            </a:extLst>
          </p:cNvPr>
          <p:cNvSpPr txBox="1"/>
          <p:nvPr/>
        </p:nvSpPr>
        <p:spPr>
          <a:xfrm>
            <a:off x="253922" y="4583943"/>
            <a:ext cx="486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1C342F9-BC17-FC6E-EA06-124EC652B238}"/>
              </a:ext>
            </a:extLst>
          </p:cNvPr>
          <p:cNvSpPr txBox="1"/>
          <p:nvPr/>
        </p:nvSpPr>
        <p:spPr>
          <a:xfrm>
            <a:off x="850392" y="592324"/>
            <a:ext cx="4042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8. Which companies have most extreme daily gains/losses?</a:t>
            </a:r>
          </a:p>
          <a:p>
            <a:endParaRPr lang="en-IN" sz="12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E27ACA9-F905-6BE7-1D2E-A4529D344F3D}"/>
              </a:ext>
            </a:extLst>
          </p:cNvPr>
          <p:cNvSpPr txBox="1"/>
          <p:nvPr/>
        </p:nvSpPr>
        <p:spPr>
          <a:xfrm>
            <a:off x="868680" y="1840753"/>
            <a:ext cx="3336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10. Which days have best/worst average returns?</a:t>
            </a:r>
          </a:p>
          <a:p>
            <a:endParaRPr lang="en-US" sz="1200" b="1" dirty="0"/>
          </a:p>
          <a:p>
            <a:endParaRPr lang="en-IN" sz="12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FE22B65-AE44-FA81-52B2-BB8CE6ECEFE3}"/>
              </a:ext>
            </a:extLst>
          </p:cNvPr>
          <p:cNvSpPr txBox="1"/>
          <p:nvPr/>
        </p:nvSpPr>
        <p:spPr>
          <a:xfrm>
            <a:off x="850392" y="2519491"/>
            <a:ext cx="5653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11. Which months show best/worst performance?</a:t>
            </a:r>
          </a:p>
          <a:p>
            <a:endParaRPr lang="en-IN" sz="12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A7E4430-C3A6-01A8-E44D-48AE24EEA662}"/>
              </a:ext>
            </a:extLst>
          </p:cNvPr>
          <p:cNvSpPr txBox="1"/>
          <p:nvPr/>
        </p:nvSpPr>
        <p:spPr>
          <a:xfrm>
            <a:off x="841246" y="3146976"/>
            <a:ext cx="4652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12. What percentage distance is price from 52-week extremes?</a:t>
            </a:r>
          </a:p>
          <a:p>
            <a:endParaRPr lang="en-IN" sz="12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2D4F12E-E1B0-A024-E16D-195580C0F918}"/>
              </a:ext>
            </a:extLst>
          </p:cNvPr>
          <p:cNvSpPr txBox="1"/>
          <p:nvPr/>
        </p:nvSpPr>
        <p:spPr>
          <a:xfrm>
            <a:off x="841248" y="3831486"/>
            <a:ext cx="5942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13. How does volatility change across the month?</a:t>
            </a:r>
          </a:p>
          <a:p>
            <a:endParaRPr lang="en-IN" sz="12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85F85AE-DDCC-1EBD-E9EE-15E64F25C9F7}"/>
              </a:ext>
            </a:extLst>
          </p:cNvPr>
          <p:cNvSpPr txBox="1"/>
          <p:nvPr/>
        </p:nvSpPr>
        <p:spPr>
          <a:xfrm>
            <a:off x="850392" y="4506999"/>
            <a:ext cx="5942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14. What's the distribution of trading volumes?</a:t>
            </a:r>
            <a:endParaRPr lang="en-IN" sz="12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EDAB54-70C8-C4DC-B6E9-F17E68B24024}"/>
              </a:ext>
            </a:extLst>
          </p:cNvPr>
          <p:cNvSpPr txBox="1"/>
          <p:nvPr/>
        </p:nvSpPr>
        <p:spPr>
          <a:xfrm>
            <a:off x="868680" y="1230537"/>
            <a:ext cx="4132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9. How frequently do Gap Up and Gap Down occur?</a:t>
            </a:r>
          </a:p>
          <a:p>
            <a:endParaRPr lang="en-IN" sz="1200" b="1" dirty="0"/>
          </a:p>
        </p:txBody>
      </p:sp>
      <p:sp>
        <p:nvSpPr>
          <p:cNvPr id="58" name="Text 23">
            <a:extLst>
              <a:ext uri="{FF2B5EF4-FFF2-40B4-BE49-F238E27FC236}">
                <a16:creationId xmlns:a16="http://schemas.microsoft.com/office/drawing/2014/main" id="{EE20E199-0D0B-1B2E-FE35-B03C15D8B843}"/>
              </a:ext>
            </a:extLst>
          </p:cNvPr>
          <p:cNvSpPr/>
          <p:nvPr/>
        </p:nvSpPr>
        <p:spPr>
          <a:xfrm>
            <a:off x="1308295" y="2804607"/>
            <a:ext cx="11753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59" name="Text 23">
            <a:extLst>
              <a:ext uri="{FF2B5EF4-FFF2-40B4-BE49-F238E27FC236}">
                <a16:creationId xmlns:a16="http://schemas.microsoft.com/office/drawing/2014/main" id="{F4517431-0E61-AFB1-639B-2B0E973EDBCA}"/>
              </a:ext>
            </a:extLst>
          </p:cNvPr>
          <p:cNvSpPr/>
          <p:nvPr/>
        </p:nvSpPr>
        <p:spPr>
          <a:xfrm>
            <a:off x="1030811" y="3454362"/>
            <a:ext cx="13156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60" name="Text 23">
            <a:extLst>
              <a:ext uri="{FF2B5EF4-FFF2-40B4-BE49-F238E27FC236}">
                <a16:creationId xmlns:a16="http://schemas.microsoft.com/office/drawing/2014/main" id="{ADC88306-A80A-A2B5-2A91-B9F5C591D404}"/>
              </a:ext>
            </a:extLst>
          </p:cNvPr>
          <p:cNvSpPr/>
          <p:nvPr/>
        </p:nvSpPr>
        <p:spPr>
          <a:xfrm>
            <a:off x="1030811" y="4126970"/>
            <a:ext cx="1616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61" name="Text 23">
            <a:extLst>
              <a:ext uri="{FF2B5EF4-FFF2-40B4-BE49-F238E27FC236}">
                <a16:creationId xmlns:a16="http://schemas.microsoft.com/office/drawing/2014/main" id="{AEA28888-2107-182F-DA58-FA8E140C96E3}"/>
              </a:ext>
            </a:extLst>
          </p:cNvPr>
          <p:cNvSpPr/>
          <p:nvPr/>
        </p:nvSpPr>
        <p:spPr>
          <a:xfrm>
            <a:off x="1030811" y="4793142"/>
            <a:ext cx="13771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5E5E6CA1-91EF-9008-E948-39AE9825380B}"/>
              </a:ext>
            </a:extLst>
          </p:cNvPr>
          <p:cNvSpPr/>
          <p:nvPr/>
        </p:nvSpPr>
        <p:spPr>
          <a:xfrm>
            <a:off x="990542" y="4825146"/>
            <a:ext cx="17749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Distribution</a:t>
            </a:r>
            <a:endParaRPr lang="en-US" sz="1050" dirty="0"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944EAC51-DF73-3AD1-5682-E34FD678D3F5}"/>
              </a:ext>
            </a:extLst>
          </p:cNvPr>
          <p:cNvSpPr/>
          <p:nvPr/>
        </p:nvSpPr>
        <p:spPr>
          <a:xfrm>
            <a:off x="990542" y="1523100"/>
            <a:ext cx="17749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Up-Gap Down Analysis</a:t>
            </a:r>
            <a:endParaRPr lang="en-US" sz="105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A6694E6-3302-B8F9-15FF-B1C59CE91A62}"/>
              </a:ext>
            </a:extLst>
          </p:cNvPr>
          <p:cNvSpPr/>
          <p:nvPr/>
        </p:nvSpPr>
        <p:spPr>
          <a:xfrm>
            <a:off x="990542" y="2163874"/>
            <a:ext cx="17749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Day-of-Week Effect</a:t>
            </a:r>
            <a:endParaRPr lang="en-US" sz="105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257FF7BE-50BB-FE51-206D-48F1BA38B9FB}"/>
              </a:ext>
            </a:extLst>
          </p:cNvPr>
          <p:cNvSpPr/>
          <p:nvPr/>
        </p:nvSpPr>
        <p:spPr>
          <a:xfrm>
            <a:off x="988081" y="2795479"/>
            <a:ext cx="17749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Return Trends</a:t>
            </a:r>
            <a:endParaRPr lang="en-US" sz="1050" dirty="0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92EBF341-E137-3818-D13A-3138A3F7C163}"/>
              </a:ext>
            </a:extLst>
          </p:cNvPr>
          <p:cNvSpPr/>
          <p:nvPr/>
        </p:nvSpPr>
        <p:spPr>
          <a:xfrm>
            <a:off x="988081" y="4143525"/>
            <a:ext cx="11524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Trend</a:t>
            </a:r>
            <a:endParaRPr lang="en-US" sz="1050" dirty="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92D70CDB-D33A-A9D9-E21E-14EC2FDE3640}"/>
              </a:ext>
            </a:extLst>
          </p:cNvPr>
          <p:cNvSpPr/>
          <p:nvPr/>
        </p:nvSpPr>
        <p:spPr>
          <a:xfrm>
            <a:off x="988081" y="3434370"/>
            <a:ext cx="17749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7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 52-Week Range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939477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64008" cy="4640580"/>
          </a:xfrm>
          <a:prstGeom prst="rect">
            <a:avLst/>
          </a:prstGeom>
          <a:solidFill>
            <a:srgbClr val="7B3FBE"/>
          </a:solidFill>
          <a:ln w="12700">
            <a:solidFill>
              <a:srgbClr val="7B3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45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" y="47548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28016" y="548640"/>
            <a:ext cx="3474720" cy="454914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88720" y="9144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20040" y="605790"/>
            <a:ext cx="3108960" cy="50292"/>
          </a:xfrm>
          <a:prstGeom prst="rect">
            <a:avLst/>
          </a:prstGeom>
          <a:solidFill>
            <a:srgbClr val="7B3FBE">
              <a:alpha val="40000"/>
            </a:srgbClr>
          </a:solidFill>
          <a:ln w="12700">
            <a:solidFill>
              <a:srgbClr val="7B3FBE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2117" y="850040"/>
            <a:ext cx="182880" cy="182880"/>
          </a:xfrm>
          <a:prstGeom prst="ellipse">
            <a:avLst/>
          </a:prstGeom>
          <a:solidFill>
            <a:srgbClr val="6ECFB4"/>
          </a:solidFill>
          <a:ln w="12700">
            <a:solidFill>
              <a:srgbClr val="6ECFB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1462334"/>
            <a:ext cx="2816352" cy="265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all columns for missing / null values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28600" y="1496041"/>
            <a:ext cx="182880" cy="182880"/>
          </a:xfrm>
          <a:prstGeom prst="ellipse">
            <a:avLst/>
          </a:prstGeom>
          <a:solidFill>
            <a:srgbClr val="6ECFB4"/>
          </a:solidFill>
          <a:ln w="12700">
            <a:solidFill>
              <a:srgbClr val="6ECFB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2102636"/>
            <a:ext cx="2907792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duplicate rows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28600" y="2129790"/>
            <a:ext cx="182880" cy="182880"/>
          </a:xfrm>
          <a:prstGeom prst="ellipse">
            <a:avLst/>
          </a:prstGeom>
          <a:solidFill>
            <a:srgbClr val="6ECFB4"/>
          </a:solidFill>
          <a:ln w="12700">
            <a:solidFill>
              <a:srgbClr val="6ECFB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" name="Text 12"/>
          <p:cNvSpPr/>
          <p:nvPr/>
        </p:nvSpPr>
        <p:spPr>
          <a:xfrm>
            <a:off x="566928" y="2794644"/>
            <a:ext cx="2907792" cy="314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/>
              <a:t> </a:t>
            </a:r>
            <a:r>
              <a:rPr lang="en-US" sz="1050" dirty="0">
                <a:solidFill>
                  <a:schemeClr val="bg1"/>
                </a:solidFill>
              </a:rPr>
              <a:t>Generated Dataset Summary</a:t>
            </a:r>
          </a:p>
        </p:txBody>
      </p:sp>
      <p:sp>
        <p:nvSpPr>
          <p:cNvPr id="16" name="Shape 13"/>
          <p:cNvSpPr/>
          <p:nvPr/>
        </p:nvSpPr>
        <p:spPr>
          <a:xfrm>
            <a:off x="228600" y="2843784"/>
            <a:ext cx="182880" cy="182880"/>
          </a:xfrm>
          <a:prstGeom prst="ellipse">
            <a:avLst/>
          </a:prstGeom>
          <a:solidFill>
            <a:srgbClr val="6ECFB4"/>
          </a:solidFill>
          <a:ln w="12700">
            <a:solidFill>
              <a:srgbClr val="6ECFB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3548113"/>
            <a:ext cx="2907792" cy="28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chemeClr val="bg1"/>
                </a:solidFill>
              </a:rPr>
              <a:t>Computed statistical summary for core numerical features</a:t>
            </a:r>
          </a:p>
        </p:txBody>
      </p:sp>
      <p:sp>
        <p:nvSpPr>
          <p:cNvPr id="18" name="Shape 15"/>
          <p:cNvSpPr/>
          <p:nvPr/>
        </p:nvSpPr>
        <p:spPr>
          <a:xfrm>
            <a:off x="3758184" y="674546"/>
            <a:ext cx="5166360" cy="587326"/>
          </a:xfrm>
          <a:prstGeom prst="rect">
            <a:avLst/>
          </a:prstGeom>
          <a:solidFill>
            <a:srgbClr val="FFFFFF"/>
          </a:solidFill>
          <a:ln w="15240">
            <a:solidFill>
              <a:srgbClr val="E0D5F5"/>
            </a:solidFill>
            <a:prstDash val="solid"/>
          </a:ln>
          <a:effectLst>
            <a:outerShdw blurRad="76200" dist="25400" dir="8100000" algn="bl" rotWithShape="0">
              <a:srgbClr val="9B6FE8">
                <a:alpha val="10000"/>
              </a:srgbClr>
            </a:outerShdw>
          </a:effectLst>
        </p:spPr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D2C44676-CBE9-B3F6-4793-5885932B59A2}"/>
              </a:ext>
            </a:extLst>
          </p:cNvPr>
          <p:cNvSpPr/>
          <p:nvPr/>
        </p:nvSpPr>
        <p:spPr>
          <a:xfrm>
            <a:off x="274320" y="4978498"/>
            <a:ext cx="3108960" cy="50292"/>
          </a:xfrm>
          <a:prstGeom prst="rect">
            <a:avLst/>
          </a:prstGeom>
          <a:solidFill>
            <a:srgbClr val="7B3FBE">
              <a:alpha val="40000"/>
            </a:srgbClr>
          </a:solidFill>
          <a:ln w="12700">
            <a:solidFill>
              <a:srgbClr val="7B3FBE">
                <a:alpha val="40000"/>
              </a:srgbClr>
            </a:solidFill>
            <a:prstDash val="solid"/>
          </a:ln>
        </p:spPr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A366310-78CC-6449-9DF1-6B475E900EDD}"/>
              </a:ext>
            </a:extLst>
          </p:cNvPr>
          <p:cNvSpPr txBox="1"/>
          <p:nvPr/>
        </p:nvSpPr>
        <p:spPr>
          <a:xfrm>
            <a:off x="478302" y="814131"/>
            <a:ext cx="2904978" cy="423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>
                <a:solidFill>
                  <a:schemeClr val="bg1"/>
                </a:solidFill>
              </a:rPr>
              <a:t>Pre-processed </a:t>
            </a:r>
            <a:r>
              <a:rPr lang="en-IN" sz="1100" dirty="0">
                <a:solidFill>
                  <a:schemeClr val="bg1"/>
                </a:solidFill>
              </a:rPr>
              <a:t>Date</a:t>
            </a:r>
            <a:r>
              <a:rPr lang="en-IN" sz="1050" dirty="0">
                <a:solidFill>
                  <a:schemeClr val="bg1"/>
                </a:solidFill>
              </a:rPr>
              <a:t> column to extract Date features </a:t>
            </a:r>
          </a:p>
        </p:txBody>
      </p:sp>
      <p:sp>
        <p:nvSpPr>
          <p:cNvPr id="35" name="Shape 13">
            <a:extLst>
              <a:ext uri="{FF2B5EF4-FFF2-40B4-BE49-F238E27FC236}">
                <a16:creationId xmlns:a16="http://schemas.microsoft.com/office/drawing/2014/main" id="{CD8ECD46-E7DC-59F0-A902-C4CA3BF26CDD}"/>
              </a:ext>
            </a:extLst>
          </p:cNvPr>
          <p:cNvSpPr/>
          <p:nvPr/>
        </p:nvSpPr>
        <p:spPr>
          <a:xfrm>
            <a:off x="228600" y="3542186"/>
            <a:ext cx="182880" cy="182880"/>
          </a:xfrm>
          <a:prstGeom prst="ellipse">
            <a:avLst/>
          </a:prstGeom>
          <a:solidFill>
            <a:srgbClr val="6ECFB4"/>
          </a:solidFill>
          <a:ln w="12700">
            <a:solidFill>
              <a:srgbClr val="6ECFB4"/>
            </a:solidFill>
            <a:prstDash val="solid"/>
          </a:ln>
        </p:spPr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823F993F-309B-2DF3-916C-9258A7CB5AC6}"/>
              </a:ext>
            </a:extLst>
          </p:cNvPr>
          <p:cNvSpPr/>
          <p:nvPr/>
        </p:nvSpPr>
        <p:spPr>
          <a:xfrm>
            <a:off x="223911" y="4219898"/>
            <a:ext cx="182880" cy="182880"/>
          </a:xfrm>
          <a:prstGeom prst="ellipse">
            <a:avLst/>
          </a:prstGeom>
          <a:solidFill>
            <a:srgbClr val="6ECFB4"/>
          </a:solidFill>
          <a:ln w="12700">
            <a:solidFill>
              <a:srgbClr val="6ECFB4"/>
            </a:solidFill>
            <a:prstDash val="solid"/>
          </a:ln>
        </p:spPr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9F9764C-B1C3-8991-F41D-997C3F1C33C8}"/>
              </a:ext>
            </a:extLst>
          </p:cNvPr>
          <p:cNvSpPr txBox="1"/>
          <p:nvPr/>
        </p:nvSpPr>
        <p:spPr>
          <a:xfrm>
            <a:off x="478302" y="4176698"/>
            <a:ext cx="30374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Ensured data consistency through logical validation checks</a:t>
            </a:r>
            <a:endParaRPr lang="en-IN" sz="1050" dirty="0">
              <a:solidFill>
                <a:schemeClr val="bg1"/>
              </a:solidFill>
            </a:endParaRPr>
          </a:p>
        </p:txBody>
      </p:sp>
      <p:sp>
        <p:nvSpPr>
          <p:cNvPr id="38" name="Shape 15">
            <a:extLst>
              <a:ext uri="{FF2B5EF4-FFF2-40B4-BE49-F238E27FC236}">
                <a16:creationId xmlns:a16="http://schemas.microsoft.com/office/drawing/2014/main" id="{8795F7F8-1A0B-6DD6-57D9-5975E738152B}"/>
              </a:ext>
            </a:extLst>
          </p:cNvPr>
          <p:cNvSpPr/>
          <p:nvPr/>
        </p:nvSpPr>
        <p:spPr>
          <a:xfrm>
            <a:off x="3758184" y="1391084"/>
            <a:ext cx="5166360" cy="587326"/>
          </a:xfrm>
          <a:prstGeom prst="rect">
            <a:avLst/>
          </a:prstGeom>
          <a:solidFill>
            <a:srgbClr val="FFFFFF"/>
          </a:solidFill>
          <a:ln w="15240">
            <a:solidFill>
              <a:srgbClr val="E0D5F5"/>
            </a:solidFill>
            <a:prstDash val="solid"/>
          </a:ln>
          <a:effectLst>
            <a:outerShdw blurRad="76200" dist="25400" dir="8100000" algn="bl" rotWithShape="0">
              <a:srgbClr val="9B6FE8">
                <a:alpha val="10000"/>
              </a:srgbClr>
            </a:outerShdw>
          </a:effectLst>
        </p:spPr>
      </p:sp>
      <p:sp>
        <p:nvSpPr>
          <p:cNvPr id="39" name="Shape 15">
            <a:extLst>
              <a:ext uri="{FF2B5EF4-FFF2-40B4-BE49-F238E27FC236}">
                <a16:creationId xmlns:a16="http://schemas.microsoft.com/office/drawing/2014/main" id="{790B989E-E068-B1A6-6D1D-AD1F85F3FE26}"/>
              </a:ext>
            </a:extLst>
          </p:cNvPr>
          <p:cNvSpPr/>
          <p:nvPr/>
        </p:nvSpPr>
        <p:spPr>
          <a:xfrm>
            <a:off x="3758184" y="2111428"/>
            <a:ext cx="5166360" cy="587326"/>
          </a:xfrm>
          <a:prstGeom prst="rect">
            <a:avLst/>
          </a:prstGeom>
          <a:solidFill>
            <a:srgbClr val="FFFFFF"/>
          </a:solidFill>
          <a:ln w="15240">
            <a:solidFill>
              <a:srgbClr val="E0D5F5"/>
            </a:solidFill>
            <a:prstDash val="solid"/>
          </a:ln>
          <a:effectLst>
            <a:outerShdw blurRad="76200" dist="25400" dir="8100000" algn="bl" rotWithShape="0">
              <a:srgbClr val="9B6FE8">
                <a:alpha val="10000"/>
              </a:srgbClr>
            </a:outerShdw>
          </a:effectLst>
        </p:spPr>
      </p:sp>
      <p:sp>
        <p:nvSpPr>
          <p:cNvPr id="40" name="Shape 15">
            <a:extLst>
              <a:ext uri="{FF2B5EF4-FFF2-40B4-BE49-F238E27FC236}">
                <a16:creationId xmlns:a16="http://schemas.microsoft.com/office/drawing/2014/main" id="{FE7AACA6-BAA0-3E50-6B42-BCAFBF51EC5E}"/>
              </a:ext>
            </a:extLst>
          </p:cNvPr>
          <p:cNvSpPr/>
          <p:nvPr/>
        </p:nvSpPr>
        <p:spPr>
          <a:xfrm>
            <a:off x="3758184" y="2808436"/>
            <a:ext cx="5166360" cy="587326"/>
          </a:xfrm>
          <a:prstGeom prst="rect">
            <a:avLst/>
          </a:prstGeom>
          <a:solidFill>
            <a:srgbClr val="FFFFFF"/>
          </a:solidFill>
          <a:ln w="15240">
            <a:solidFill>
              <a:srgbClr val="E0D5F5"/>
            </a:solidFill>
            <a:prstDash val="solid"/>
          </a:ln>
          <a:effectLst>
            <a:outerShdw blurRad="76200" dist="25400" dir="8100000" algn="bl" rotWithShape="0">
              <a:srgbClr val="9B6FE8">
                <a:alpha val="10000"/>
              </a:srgbClr>
            </a:outerShdw>
          </a:effectLst>
        </p:spPr>
      </p:sp>
      <p:sp>
        <p:nvSpPr>
          <p:cNvPr id="41" name="Shape 15">
            <a:extLst>
              <a:ext uri="{FF2B5EF4-FFF2-40B4-BE49-F238E27FC236}">
                <a16:creationId xmlns:a16="http://schemas.microsoft.com/office/drawing/2014/main" id="{9C7849CA-5824-C4C3-80AE-8B219CE18E97}"/>
              </a:ext>
            </a:extLst>
          </p:cNvPr>
          <p:cNvSpPr/>
          <p:nvPr/>
        </p:nvSpPr>
        <p:spPr>
          <a:xfrm>
            <a:off x="3749040" y="3509250"/>
            <a:ext cx="5166360" cy="587326"/>
          </a:xfrm>
          <a:prstGeom prst="rect">
            <a:avLst/>
          </a:prstGeom>
          <a:solidFill>
            <a:srgbClr val="FFFFFF"/>
          </a:solidFill>
          <a:ln w="15240">
            <a:solidFill>
              <a:srgbClr val="E0D5F5"/>
            </a:solidFill>
            <a:prstDash val="solid"/>
          </a:ln>
          <a:effectLst>
            <a:outerShdw blurRad="76200" dist="25400" dir="8100000" algn="bl" rotWithShape="0">
              <a:srgbClr val="9B6FE8">
                <a:alpha val="10000"/>
              </a:srgbClr>
            </a:outerShdw>
          </a:effectLst>
        </p:spPr>
      </p:sp>
      <p:sp>
        <p:nvSpPr>
          <p:cNvPr id="42" name="Shape 15">
            <a:extLst>
              <a:ext uri="{FF2B5EF4-FFF2-40B4-BE49-F238E27FC236}">
                <a16:creationId xmlns:a16="http://schemas.microsoft.com/office/drawing/2014/main" id="{B06873CC-0E00-7C1B-D180-6C41E1FE3D8D}"/>
              </a:ext>
            </a:extLst>
          </p:cNvPr>
          <p:cNvSpPr/>
          <p:nvPr/>
        </p:nvSpPr>
        <p:spPr>
          <a:xfrm>
            <a:off x="3753729" y="4313922"/>
            <a:ext cx="5166360" cy="587326"/>
          </a:xfrm>
          <a:prstGeom prst="rect">
            <a:avLst/>
          </a:prstGeom>
          <a:solidFill>
            <a:srgbClr val="FFFFFF"/>
          </a:solidFill>
          <a:ln w="15240">
            <a:solidFill>
              <a:srgbClr val="E0D5F5"/>
            </a:solidFill>
            <a:prstDash val="solid"/>
          </a:ln>
          <a:effectLst>
            <a:outerShdw blurRad="76200" dist="25400" dir="8100000" algn="bl" rotWithShape="0">
              <a:srgbClr val="9B6FE8">
                <a:alpha val="10000"/>
              </a:srgbClr>
            </a:outerShdw>
          </a:effectLst>
        </p:spPr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905DADD8-1F36-227B-22AF-3B7024D28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285" y="691628"/>
            <a:ext cx="2120001" cy="531907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02B5EE95-8627-9E2C-39BE-1690B8DADD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8770" y="691628"/>
            <a:ext cx="2941320" cy="544686"/>
          </a:xfrm>
          <a:prstGeom prst="rect">
            <a:avLst/>
          </a:prstGeom>
        </p:spPr>
      </p:pic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053502F-8AF8-3C1E-1F56-A64CF8A3880C}"/>
              </a:ext>
            </a:extLst>
          </p:cNvPr>
          <p:cNvCxnSpPr/>
          <p:nvPr/>
        </p:nvCxnSpPr>
        <p:spPr>
          <a:xfrm>
            <a:off x="5676314" y="1032920"/>
            <a:ext cx="2229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0" name="Picture 49">
            <a:extLst>
              <a:ext uri="{FF2B5EF4-FFF2-40B4-BE49-F238E27FC236}">
                <a16:creationId xmlns:a16="http://schemas.microsoft.com/office/drawing/2014/main" id="{DA7AF609-102F-454B-EB7E-72E61B3E58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0814" y="1412284"/>
            <a:ext cx="2495314" cy="559997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4353FB99-61BF-B1BB-AB27-495BA85CE6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0813" y="2111428"/>
            <a:ext cx="2495315" cy="58352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CDBFC5D9-974F-C940-C6B1-CC0AD896ED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2823211"/>
            <a:ext cx="3945988" cy="572552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36AD3E8F-2073-F2D2-9EB8-64E13812AC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8184" y="3548113"/>
            <a:ext cx="5157216" cy="465932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C0F0B5F5-E023-D4DD-49E2-FE45010A42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79284" y="4392141"/>
            <a:ext cx="5090395" cy="4382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64008" cy="4640580"/>
          </a:xfrm>
          <a:prstGeom prst="rect">
            <a:avLst/>
          </a:prstGeom>
          <a:solidFill>
            <a:srgbClr val="7B3FBE"/>
          </a:solidFill>
          <a:ln w="12700">
            <a:solidFill>
              <a:srgbClr val="7B3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4114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21949" y="502920"/>
            <a:ext cx="39744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B3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features unlock </a:t>
            </a:r>
            <a:r>
              <a:rPr lang="en-US" sz="115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</a:t>
            </a:r>
            <a:r>
              <a:rPr lang="en-US" sz="1150" i="1" dirty="0">
                <a:solidFill>
                  <a:srgbClr val="7B3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insights beyond raw OHLCV data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98236" y="892595"/>
            <a:ext cx="6039259" cy="3995928"/>
          </a:xfrm>
          <a:prstGeom prst="rect">
            <a:avLst/>
          </a:prstGeom>
          <a:solidFill>
            <a:srgbClr val="FFFFFF"/>
          </a:solidFill>
          <a:ln w="15240">
            <a:solidFill>
              <a:srgbClr val="E0D5F5"/>
            </a:solidFill>
            <a:prstDash val="solid"/>
          </a:ln>
          <a:effectLst>
            <a:outerShdw blurRad="101600" dist="25400" dir="8100000" algn="bl" rotWithShape="0">
              <a:srgbClr val="9B6FE8">
                <a:alpha val="12000"/>
              </a:srgbClr>
            </a:outerShdw>
          </a:effectLst>
        </p:spPr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20C903C-F1E0-7F1C-FCF6-8F910DCC2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929" y="892596"/>
            <a:ext cx="5788855" cy="399592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FB6A893-F457-46EF-72C6-769D4200D395}"/>
              </a:ext>
            </a:extLst>
          </p:cNvPr>
          <p:cNvSpPr txBox="1"/>
          <p:nvPr/>
        </p:nvSpPr>
        <p:spPr>
          <a:xfrm>
            <a:off x="6492240" y="1203159"/>
            <a:ext cx="23535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7030A0"/>
                </a:solidFill>
              </a:rPr>
              <a:t>Created Intraday movement feature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i="1" dirty="0">
              <a:solidFill>
                <a:srgbClr val="7030A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7030A0"/>
                </a:solidFill>
              </a:rPr>
              <a:t>Calculated gap percentage between sessions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i="1" dirty="0">
              <a:solidFill>
                <a:srgbClr val="7030A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7030A0"/>
                </a:solidFill>
              </a:rPr>
              <a:t>Classified gap types (Up / Down / No Gap)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i="1" dirty="0">
              <a:solidFill>
                <a:srgbClr val="7030A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7030A0"/>
                </a:solidFill>
              </a:rPr>
              <a:t>Computed daily return (%)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i="1" dirty="0">
              <a:solidFill>
                <a:srgbClr val="7030A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7030A0"/>
                </a:solidFill>
              </a:rPr>
              <a:t>Calculated previous close return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i="1" dirty="0">
              <a:solidFill>
                <a:srgbClr val="7030A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7030A0"/>
                </a:solidFill>
              </a:rPr>
              <a:t> Measured distance from 52-week high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i="1" dirty="0">
              <a:solidFill>
                <a:srgbClr val="7030A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7030A0"/>
                </a:solidFill>
              </a:rPr>
              <a:t>Measured distance from 52-week low</a:t>
            </a:r>
            <a:endParaRPr lang="en-IN" sz="1200" i="1" dirty="0">
              <a:solidFill>
                <a:srgbClr val="7030A0"/>
              </a:solidFill>
            </a:endParaRPr>
          </a:p>
        </p:txBody>
      </p:sp>
      <p:sp>
        <p:nvSpPr>
          <p:cNvPr id="24" name="Rectangle: Single Corner Rounded 23">
            <a:extLst>
              <a:ext uri="{FF2B5EF4-FFF2-40B4-BE49-F238E27FC236}">
                <a16:creationId xmlns:a16="http://schemas.microsoft.com/office/drawing/2014/main" id="{4429DD09-17CC-359F-2068-B49F0C1530E9}"/>
              </a:ext>
            </a:extLst>
          </p:cNvPr>
          <p:cNvSpPr/>
          <p:nvPr/>
        </p:nvSpPr>
        <p:spPr>
          <a:xfrm>
            <a:off x="6492240" y="963637"/>
            <a:ext cx="2353524" cy="3798277"/>
          </a:xfrm>
          <a:prstGeom prst="round1Rect">
            <a:avLst/>
          </a:prstGeom>
          <a:noFill/>
          <a:ln w="952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44361" y="41148"/>
            <a:ext cx="247239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3200" dirty="0"/>
          </a:p>
        </p:txBody>
      </p:sp>
      <p:sp>
        <p:nvSpPr>
          <p:cNvPr id="39" name="Shape 64">
            <a:extLst>
              <a:ext uri="{FF2B5EF4-FFF2-40B4-BE49-F238E27FC236}">
                <a16:creationId xmlns:a16="http://schemas.microsoft.com/office/drawing/2014/main" id="{BFF3BEE1-B046-4AEE-7FFB-CFF1F7AFA079}"/>
              </a:ext>
            </a:extLst>
          </p:cNvPr>
          <p:cNvSpPr/>
          <p:nvPr/>
        </p:nvSpPr>
        <p:spPr>
          <a:xfrm>
            <a:off x="6700183" y="922574"/>
            <a:ext cx="1781905" cy="1104262"/>
          </a:xfrm>
          <a:prstGeom prst="rect">
            <a:avLst/>
          </a:prstGeom>
          <a:solidFill>
            <a:srgbClr val="EDE0FF"/>
          </a:solidFill>
          <a:ln w="12700">
            <a:solidFill>
              <a:srgbClr val="C4A8F0"/>
            </a:solidFill>
            <a:prstDash val="solid"/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Calculated intraday volatility.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Aggregated company-wise average.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Identified top volatile stocks.</a:t>
            </a:r>
            <a:endParaRPr lang="en-IN" sz="1050" dirty="0"/>
          </a:p>
        </p:txBody>
      </p:sp>
      <p:sp>
        <p:nvSpPr>
          <p:cNvPr id="40" name="Rectangle: Single Corner Rounded 39">
            <a:extLst>
              <a:ext uri="{FF2B5EF4-FFF2-40B4-BE49-F238E27FC236}">
                <a16:creationId xmlns:a16="http://schemas.microsoft.com/office/drawing/2014/main" id="{6A449369-587D-B505-971C-759C993D3AEA}"/>
              </a:ext>
            </a:extLst>
          </p:cNvPr>
          <p:cNvSpPr/>
          <p:nvPr/>
        </p:nvSpPr>
        <p:spPr>
          <a:xfrm rot="16200000">
            <a:off x="4352542" y="-1242882"/>
            <a:ext cx="256033" cy="3829930"/>
          </a:xfrm>
          <a:prstGeom prst="round1Rect">
            <a:avLst/>
          </a:prstGeom>
          <a:noFill/>
          <a:ln w="952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30257E-387D-B8AC-ADF1-BFAA9190AFBC}"/>
              </a:ext>
            </a:extLst>
          </p:cNvPr>
          <p:cNvSpPr txBox="1"/>
          <p:nvPr/>
        </p:nvSpPr>
        <p:spPr>
          <a:xfrm>
            <a:off x="2614389" y="538939"/>
            <a:ext cx="37323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rgbClr val="672B77"/>
                </a:solidFill>
              </a:rPr>
              <a:t>Volatility &amp; Price Movement wise problem statements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C92B4F9-5DC4-E03F-C923-15635E74EBD5}"/>
              </a:ext>
            </a:extLst>
          </p:cNvPr>
          <p:cNvSpPr txBox="1"/>
          <p:nvPr/>
        </p:nvSpPr>
        <p:spPr>
          <a:xfrm>
            <a:off x="66821" y="841245"/>
            <a:ext cx="54688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1. Which companies show highest intraday volatility?</a:t>
            </a:r>
            <a:endParaRPr lang="en-IN" sz="12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9D83D73-6777-9E98-D077-7369109F9142}"/>
              </a:ext>
            </a:extLst>
          </p:cNvPr>
          <p:cNvSpPr txBox="1"/>
          <p:nvPr/>
        </p:nvSpPr>
        <p:spPr>
          <a:xfrm>
            <a:off x="66821" y="2065014"/>
            <a:ext cx="56499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4. Which companies have largest daily price ranges?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77ED211-CE79-E82A-D542-D373BACB2A60}"/>
              </a:ext>
            </a:extLst>
          </p:cNvPr>
          <p:cNvSpPr txBox="1"/>
          <p:nvPr/>
        </p:nvSpPr>
        <p:spPr>
          <a:xfrm>
            <a:off x="60657" y="3295602"/>
            <a:ext cx="55672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13. How does volatility change across the month?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A2CA5456-12CE-EB1D-1D3E-F5593494C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477" y="1408053"/>
            <a:ext cx="3284806" cy="177552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4E9E03AD-FD36-7532-6D9E-BE235DBD46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417" y="1711792"/>
            <a:ext cx="4276577" cy="276999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B4FF22ED-9C0C-BB5B-0901-8F42D8502D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5050" y="924361"/>
            <a:ext cx="1320898" cy="1104263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5A08FDD8-C573-F879-2025-14D61828A36C}"/>
              </a:ext>
            </a:extLst>
          </p:cNvPr>
          <p:cNvSpPr txBox="1"/>
          <p:nvPr/>
        </p:nvSpPr>
        <p:spPr>
          <a:xfrm>
            <a:off x="147711" y="1149567"/>
            <a:ext cx="16670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/>
              <a:t>Core logic used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BCB1EFD-0E2A-B1E5-5660-2F2FE06C90B5}"/>
              </a:ext>
            </a:extLst>
          </p:cNvPr>
          <p:cNvSpPr txBox="1"/>
          <p:nvPr/>
        </p:nvSpPr>
        <p:spPr>
          <a:xfrm>
            <a:off x="172920" y="2285624"/>
            <a:ext cx="115531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b="1" dirty="0"/>
              <a:t>Core logic used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2DFA8B0-67FB-BD24-4C97-E2CC62A72C51}"/>
              </a:ext>
            </a:extLst>
          </p:cNvPr>
          <p:cNvCxnSpPr/>
          <p:nvPr/>
        </p:nvCxnSpPr>
        <p:spPr>
          <a:xfrm>
            <a:off x="1202788" y="1280372"/>
            <a:ext cx="225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B10455F-E21D-946D-BF13-B7C38EF820BA}"/>
              </a:ext>
            </a:extLst>
          </p:cNvPr>
          <p:cNvCxnSpPr/>
          <p:nvPr/>
        </p:nvCxnSpPr>
        <p:spPr>
          <a:xfrm>
            <a:off x="4665194" y="1420201"/>
            <a:ext cx="225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48D46C0-7A97-BE48-DF40-4792A42F78D3}"/>
              </a:ext>
            </a:extLst>
          </p:cNvPr>
          <p:cNvCxnSpPr/>
          <p:nvPr/>
        </p:nvCxnSpPr>
        <p:spPr>
          <a:xfrm>
            <a:off x="6395524" y="1438884"/>
            <a:ext cx="225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16E8FE4-B47A-9282-4BA1-7470E481B966}"/>
              </a:ext>
            </a:extLst>
          </p:cNvPr>
          <p:cNvCxnSpPr/>
          <p:nvPr/>
        </p:nvCxnSpPr>
        <p:spPr>
          <a:xfrm>
            <a:off x="1218614" y="2416429"/>
            <a:ext cx="225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4" name="Picture 63">
            <a:extLst>
              <a:ext uri="{FF2B5EF4-FFF2-40B4-BE49-F238E27FC236}">
                <a16:creationId xmlns:a16="http://schemas.microsoft.com/office/drawing/2014/main" id="{056510FA-B6CC-EA02-DE0A-35DA1F3DE6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545" y="2554223"/>
            <a:ext cx="3400864" cy="228642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C96590E4-B87B-5222-FF1B-AD6DD29843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265" y="2968050"/>
            <a:ext cx="5486399" cy="18358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1337469A-30D2-32F4-3C7A-07AFB6E2CB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28980" y="2151561"/>
            <a:ext cx="1235902" cy="1159136"/>
          </a:xfrm>
          <a:prstGeom prst="rect">
            <a:avLst/>
          </a:prstGeom>
        </p:spPr>
      </p:pic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ABE3677-8D14-88D3-1709-CBB5ACB0051A}"/>
              </a:ext>
            </a:extLst>
          </p:cNvPr>
          <p:cNvCxnSpPr/>
          <p:nvPr/>
        </p:nvCxnSpPr>
        <p:spPr>
          <a:xfrm>
            <a:off x="5149651" y="2782865"/>
            <a:ext cx="225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B60B582-A9FA-BB9D-5CBE-D144DAF25795}"/>
              </a:ext>
            </a:extLst>
          </p:cNvPr>
          <p:cNvCxnSpPr/>
          <p:nvPr/>
        </p:nvCxnSpPr>
        <p:spPr>
          <a:xfrm>
            <a:off x="1271073" y="3687241"/>
            <a:ext cx="225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FB56654-8125-23C6-2D27-F93082A237DF}"/>
              </a:ext>
            </a:extLst>
          </p:cNvPr>
          <p:cNvCxnSpPr/>
          <p:nvPr/>
        </p:nvCxnSpPr>
        <p:spPr>
          <a:xfrm>
            <a:off x="6884960" y="2782865"/>
            <a:ext cx="225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2B7A11F8-EE93-4E73-C25E-95628960B658}"/>
              </a:ext>
            </a:extLst>
          </p:cNvPr>
          <p:cNvSpPr txBox="1"/>
          <p:nvPr/>
        </p:nvSpPr>
        <p:spPr>
          <a:xfrm>
            <a:off x="224201" y="3548977"/>
            <a:ext cx="15140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b="1" dirty="0"/>
              <a:t>Core logic used</a:t>
            </a:r>
          </a:p>
        </p:txBody>
      </p:sp>
      <p:sp>
        <p:nvSpPr>
          <p:cNvPr id="74" name="Shape 64">
            <a:extLst>
              <a:ext uri="{FF2B5EF4-FFF2-40B4-BE49-F238E27FC236}">
                <a16:creationId xmlns:a16="http://schemas.microsoft.com/office/drawing/2014/main" id="{90EF23E2-20C7-A7ED-A1B0-C1623DDFA193}"/>
              </a:ext>
            </a:extLst>
          </p:cNvPr>
          <p:cNvSpPr/>
          <p:nvPr/>
        </p:nvSpPr>
        <p:spPr>
          <a:xfrm>
            <a:off x="7242221" y="2181021"/>
            <a:ext cx="1624229" cy="1104262"/>
          </a:xfrm>
          <a:prstGeom prst="rect">
            <a:avLst/>
          </a:prstGeom>
          <a:solidFill>
            <a:srgbClr val="EDE0FF"/>
          </a:solidFill>
          <a:ln w="12700">
            <a:solidFill>
              <a:srgbClr val="C4A8F0"/>
            </a:solidFill>
            <a:prstDash val="solid"/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Calculated daily price range 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Compared company-wise averages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Identified highest range stocks</a:t>
            </a:r>
            <a:endParaRPr lang="en-IN" sz="1050" dirty="0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B7C72EF1-EE18-0F1E-138F-3F37F4CB3BC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017" y="3875610"/>
            <a:ext cx="3314717" cy="143012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AD21E521-1BAC-7EEE-8A97-FCA1E55E405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8590" y="4314786"/>
            <a:ext cx="3963573" cy="149516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3027119E-F270-6D2F-53F1-19F1CB335D89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2817" t="-767" r="12344" b="6202"/>
          <a:stretch>
            <a:fillRect/>
          </a:stretch>
        </p:blipFill>
        <p:spPr>
          <a:xfrm>
            <a:off x="4890277" y="3393486"/>
            <a:ext cx="3780706" cy="1392270"/>
          </a:xfrm>
          <a:prstGeom prst="rect">
            <a:avLst/>
          </a:prstGeom>
        </p:spPr>
      </p:pic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366B6F1C-15C9-6A45-1D0A-88F5916FC60D}"/>
              </a:ext>
            </a:extLst>
          </p:cNvPr>
          <p:cNvCxnSpPr/>
          <p:nvPr/>
        </p:nvCxnSpPr>
        <p:spPr>
          <a:xfrm>
            <a:off x="4424286" y="3947116"/>
            <a:ext cx="225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52DCFF2-341F-CD53-5193-879B99CA0E8B}"/>
              </a:ext>
            </a:extLst>
          </p:cNvPr>
          <p:cNvCxnSpPr>
            <a:cxnSpLocks/>
          </p:cNvCxnSpPr>
          <p:nvPr/>
        </p:nvCxnSpPr>
        <p:spPr>
          <a:xfrm>
            <a:off x="7322233" y="4389544"/>
            <a:ext cx="1547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Shape 64">
            <a:extLst>
              <a:ext uri="{FF2B5EF4-FFF2-40B4-BE49-F238E27FC236}">
                <a16:creationId xmlns:a16="http://schemas.microsoft.com/office/drawing/2014/main" id="{A7ACE49E-3E97-19D4-1B65-1EC3C8B6E9DC}"/>
              </a:ext>
            </a:extLst>
          </p:cNvPr>
          <p:cNvSpPr/>
          <p:nvPr/>
        </p:nvSpPr>
        <p:spPr>
          <a:xfrm>
            <a:off x="5535636" y="4840840"/>
            <a:ext cx="2383597" cy="238767"/>
          </a:xfrm>
          <a:prstGeom prst="rect">
            <a:avLst/>
          </a:prstGeom>
          <a:solidFill>
            <a:srgbClr val="EDE0FF"/>
          </a:solidFill>
          <a:ln w="12700">
            <a:solidFill>
              <a:srgbClr val="C4A8F0"/>
            </a:solidFill>
            <a:prstDash val="solid"/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050" dirty="0"/>
              <a:t>Monthly Volatility trend evaluated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764335-80C7-9273-0527-1763D7CE3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: Single Corner Rounded 39">
            <a:extLst>
              <a:ext uri="{FF2B5EF4-FFF2-40B4-BE49-F238E27FC236}">
                <a16:creationId xmlns:a16="http://schemas.microsoft.com/office/drawing/2014/main" id="{4A6808DF-3048-0B74-8691-752E74A53FFB}"/>
              </a:ext>
            </a:extLst>
          </p:cNvPr>
          <p:cNvSpPr/>
          <p:nvPr/>
        </p:nvSpPr>
        <p:spPr>
          <a:xfrm rot="16200000">
            <a:off x="4408810" y="-1756142"/>
            <a:ext cx="256033" cy="3829930"/>
          </a:xfrm>
          <a:prstGeom prst="round1Rect">
            <a:avLst/>
          </a:prstGeom>
          <a:noFill/>
          <a:ln w="952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EC5A04-FBD3-386B-E316-E6A1A9D63EC7}"/>
              </a:ext>
            </a:extLst>
          </p:cNvPr>
          <p:cNvSpPr txBox="1"/>
          <p:nvPr/>
        </p:nvSpPr>
        <p:spPr>
          <a:xfrm>
            <a:off x="2663187" y="19421"/>
            <a:ext cx="37323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rgbClr val="672B77"/>
                </a:solidFill>
              </a:rPr>
              <a:t>Trading activity &amp; Volume wise problem statements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DDD78CA-6D30-B6F3-DAE1-A33E956CF42D}"/>
              </a:ext>
            </a:extLst>
          </p:cNvPr>
          <p:cNvSpPr txBox="1"/>
          <p:nvPr/>
        </p:nvSpPr>
        <p:spPr>
          <a:xfrm>
            <a:off x="66821" y="271520"/>
            <a:ext cx="5468815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/>
              <a:t> 2. Which companies have most daily trading activity?</a:t>
            </a:r>
            <a:endParaRPr lang="en-IN" sz="1050" b="1" dirty="0"/>
          </a:p>
          <a:p>
            <a:endParaRPr lang="en-IN" sz="12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E3BD870-F920-9A96-46C3-EA1E2D331EA3}"/>
              </a:ext>
            </a:extLst>
          </p:cNvPr>
          <p:cNvSpPr txBox="1"/>
          <p:nvPr/>
        </p:nvSpPr>
        <p:spPr>
          <a:xfrm>
            <a:off x="66821" y="1311268"/>
            <a:ext cx="5649937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/>
              <a:t>3. Which session has highest volume activity?</a:t>
            </a:r>
          </a:p>
          <a:p>
            <a:endParaRPr lang="en-US" sz="12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8E1E31C-DB88-17D2-F4A9-CC81DBE6A15F}"/>
              </a:ext>
            </a:extLst>
          </p:cNvPr>
          <p:cNvSpPr txBox="1"/>
          <p:nvPr/>
        </p:nvSpPr>
        <p:spPr>
          <a:xfrm>
            <a:off x="65287" y="2515484"/>
            <a:ext cx="3710354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/>
              <a:t>7. Which months have highest trading activity?</a:t>
            </a:r>
          </a:p>
          <a:p>
            <a:endParaRPr lang="en-US" sz="12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0DC7287-CBB7-88ED-0D80-9F871809E752}"/>
              </a:ext>
            </a:extLst>
          </p:cNvPr>
          <p:cNvSpPr txBox="1"/>
          <p:nvPr/>
        </p:nvSpPr>
        <p:spPr>
          <a:xfrm>
            <a:off x="215121" y="461240"/>
            <a:ext cx="16670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Core logic used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8316513-EF72-6F93-61EB-62516DDCB4AE}"/>
              </a:ext>
            </a:extLst>
          </p:cNvPr>
          <p:cNvSpPr txBox="1"/>
          <p:nvPr/>
        </p:nvSpPr>
        <p:spPr>
          <a:xfrm>
            <a:off x="207932" y="1514322"/>
            <a:ext cx="11553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dirty="0"/>
              <a:t>Core logic used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3F0A3BB-2A7F-702C-7514-FECBE590EC74}"/>
              </a:ext>
            </a:extLst>
          </p:cNvPr>
          <p:cNvCxnSpPr/>
          <p:nvPr/>
        </p:nvCxnSpPr>
        <p:spPr>
          <a:xfrm>
            <a:off x="1237957" y="592045"/>
            <a:ext cx="225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35001FB-F613-8169-EECD-0EEFC799BCF4}"/>
              </a:ext>
            </a:extLst>
          </p:cNvPr>
          <p:cNvCxnSpPr/>
          <p:nvPr/>
        </p:nvCxnSpPr>
        <p:spPr>
          <a:xfrm>
            <a:off x="4888081" y="2012157"/>
            <a:ext cx="225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232F762-7ED8-6677-B2B6-4E4B15B71706}"/>
              </a:ext>
            </a:extLst>
          </p:cNvPr>
          <p:cNvCxnSpPr/>
          <p:nvPr/>
        </p:nvCxnSpPr>
        <p:spPr>
          <a:xfrm>
            <a:off x="6261877" y="801834"/>
            <a:ext cx="225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BB42B15-4265-04CA-D4BF-ABC9E381F7B2}"/>
              </a:ext>
            </a:extLst>
          </p:cNvPr>
          <p:cNvCxnSpPr/>
          <p:nvPr/>
        </p:nvCxnSpPr>
        <p:spPr>
          <a:xfrm>
            <a:off x="1147542" y="1637432"/>
            <a:ext cx="225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DB1FE9D-B399-9EC2-6C55-94B0352EDA0E}"/>
              </a:ext>
            </a:extLst>
          </p:cNvPr>
          <p:cNvCxnSpPr/>
          <p:nvPr/>
        </p:nvCxnSpPr>
        <p:spPr>
          <a:xfrm>
            <a:off x="4235251" y="3273885"/>
            <a:ext cx="225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B01EB47-F431-CD2A-2A2A-D49830332E2A}"/>
              </a:ext>
            </a:extLst>
          </p:cNvPr>
          <p:cNvCxnSpPr>
            <a:cxnSpLocks/>
          </p:cNvCxnSpPr>
          <p:nvPr/>
        </p:nvCxnSpPr>
        <p:spPr>
          <a:xfrm>
            <a:off x="1169670" y="2843632"/>
            <a:ext cx="2029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81747DB-75DD-EE9F-3CEC-6A4A93A4C56C}"/>
              </a:ext>
            </a:extLst>
          </p:cNvPr>
          <p:cNvCxnSpPr/>
          <p:nvPr/>
        </p:nvCxnSpPr>
        <p:spPr>
          <a:xfrm>
            <a:off x="5855458" y="3273885"/>
            <a:ext cx="225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85F00C5E-0A1F-9A83-D554-D4F369D2E4C1}"/>
              </a:ext>
            </a:extLst>
          </p:cNvPr>
          <p:cNvSpPr txBox="1"/>
          <p:nvPr/>
        </p:nvSpPr>
        <p:spPr>
          <a:xfrm>
            <a:off x="186618" y="2712252"/>
            <a:ext cx="151403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dirty="0"/>
              <a:t>Core logic used</a:t>
            </a:r>
          </a:p>
        </p:txBody>
      </p:sp>
      <p:sp>
        <p:nvSpPr>
          <p:cNvPr id="74" name="Shape 64">
            <a:extLst>
              <a:ext uri="{FF2B5EF4-FFF2-40B4-BE49-F238E27FC236}">
                <a16:creationId xmlns:a16="http://schemas.microsoft.com/office/drawing/2014/main" id="{39B28F59-8317-48A4-D54E-68E14068B444}"/>
              </a:ext>
            </a:extLst>
          </p:cNvPr>
          <p:cNvSpPr/>
          <p:nvPr/>
        </p:nvSpPr>
        <p:spPr>
          <a:xfrm>
            <a:off x="6171145" y="2911705"/>
            <a:ext cx="2415537" cy="798283"/>
          </a:xfrm>
          <a:prstGeom prst="rect">
            <a:avLst/>
          </a:prstGeom>
          <a:solidFill>
            <a:srgbClr val="EDE0FF"/>
          </a:solidFill>
          <a:ln w="12700">
            <a:solidFill>
              <a:srgbClr val="C4A8F0"/>
            </a:solidFill>
            <a:prstDash val="solid"/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Aggregated monthly trading volume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Compared activity across months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Identified highest activity month</a:t>
            </a:r>
            <a:endParaRPr lang="en-IN" sz="1050" dirty="0"/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612BC0F8-9464-8936-BFCA-2CD595866DC6}"/>
              </a:ext>
            </a:extLst>
          </p:cNvPr>
          <p:cNvCxnSpPr/>
          <p:nvPr/>
        </p:nvCxnSpPr>
        <p:spPr>
          <a:xfrm>
            <a:off x="2926954" y="4584528"/>
            <a:ext cx="225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95FF0961-C061-B613-1DA1-D1834F36EC88}"/>
              </a:ext>
            </a:extLst>
          </p:cNvPr>
          <p:cNvCxnSpPr>
            <a:cxnSpLocks/>
          </p:cNvCxnSpPr>
          <p:nvPr/>
        </p:nvCxnSpPr>
        <p:spPr>
          <a:xfrm>
            <a:off x="6297047" y="4523553"/>
            <a:ext cx="1547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Shape 64">
            <a:extLst>
              <a:ext uri="{FF2B5EF4-FFF2-40B4-BE49-F238E27FC236}">
                <a16:creationId xmlns:a16="http://schemas.microsoft.com/office/drawing/2014/main" id="{17C9342C-5DE0-E12A-DE68-4EC0C77FEEC7}"/>
              </a:ext>
            </a:extLst>
          </p:cNvPr>
          <p:cNvSpPr/>
          <p:nvPr/>
        </p:nvSpPr>
        <p:spPr>
          <a:xfrm>
            <a:off x="6586310" y="4295718"/>
            <a:ext cx="2342569" cy="455669"/>
          </a:xfrm>
          <a:prstGeom prst="rect">
            <a:avLst/>
          </a:prstGeom>
          <a:solidFill>
            <a:srgbClr val="EDE0FF"/>
          </a:solidFill>
          <a:ln w="12700">
            <a:solidFill>
              <a:srgbClr val="C4A8F0"/>
            </a:solidFill>
            <a:prstDash val="solid"/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Calculated mean &amp; median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Identified skewness in data</a:t>
            </a:r>
            <a:endParaRPr lang="en-IN" sz="10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317A08-C83E-6918-204A-596355683BFF}"/>
              </a:ext>
            </a:extLst>
          </p:cNvPr>
          <p:cNvSpPr txBox="1"/>
          <p:nvPr/>
        </p:nvSpPr>
        <p:spPr>
          <a:xfrm>
            <a:off x="66821" y="3947116"/>
            <a:ext cx="3182816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/>
              <a:t>14. What's the distribution of trading volumes?</a:t>
            </a:r>
            <a:endParaRPr lang="en-IN" sz="1050" b="1" dirty="0"/>
          </a:p>
          <a:p>
            <a:endParaRPr lang="en-US" sz="18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57D2E9-7EDC-2BE4-F10A-952685B84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590" y="4523553"/>
            <a:ext cx="2383597" cy="2907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09397AB-9C5C-A72E-21DD-856DBB64C628}"/>
              </a:ext>
            </a:extLst>
          </p:cNvPr>
          <p:cNvSpPr txBox="1"/>
          <p:nvPr/>
        </p:nvSpPr>
        <p:spPr>
          <a:xfrm>
            <a:off x="215121" y="4138020"/>
            <a:ext cx="17162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dirty="0"/>
              <a:t>Core logic used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D49AE8B-7EF4-6300-27E9-9B9F7EDCF95A}"/>
              </a:ext>
            </a:extLst>
          </p:cNvPr>
          <p:cNvCxnSpPr/>
          <p:nvPr/>
        </p:nvCxnSpPr>
        <p:spPr>
          <a:xfrm>
            <a:off x="1130101" y="4261130"/>
            <a:ext cx="225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9F8D2277-DDAD-B207-CFE7-E5092DAFE4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57" t="19007" r="7239" b="2604"/>
          <a:stretch>
            <a:fillRect/>
          </a:stretch>
        </p:blipFill>
        <p:spPr>
          <a:xfrm>
            <a:off x="3311391" y="3884529"/>
            <a:ext cx="2932687" cy="125897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052BB15-744F-2C66-6C64-2E01BD08AD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076" y="3114957"/>
            <a:ext cx="3991487" cy="36466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FE774EA-7958-B46D-0D23-9811FAA18E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1154" y="2718255"/>
            <a:ext cx="1270588" cy="113502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8E0C326-F03F-B82D-0C82-4B606FB56C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784" y="801834"/>
            <a:ext cx="5925757" cy="1524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B5CE653-620E-7CB3-D2C7-D7FF189A00B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6156" t="26471" r="56697"/>
          <a:stretch>
            <a:fillRect/>
          </a:stretch>
        </p:blipFill>
        <p:spPr>
          <a:xfrm>
            <a:off x="6611047" y="30806"/>
            <a:ext cx="1975635" cy="125969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C0CAAE1-AAD0-70D8-9C53-71E8BCFBA2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5843" y="1774431"/>
            <a:ext cx="4393512" cy="23772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216E30E-364C-7096-F46A-3AB9FB91784E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5769" t="31069" r="34859" b="4122"/>
          <a:stretch>
            <a:fillRect/>
          </a:stretch>
        </p:blipFill>
        <p:spPr>
          <a:xfrm>
            <a:off x="5312738" y="1337310"/>
            <a:ext cx="3138729" cy="134969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59A8945-52D3-0CC1-FDE1-9D9A3C76811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5923" t="26969" r="63231" b="68636"/>
          <a:stretch>
            <a:fillRect/>
          </a:stretch>
        </p:blipFill>
        <p:spPr>
          <a:xfrm>
            <a:off x="703230" y="2204011"/>
            <a:ext cx="2686818" cy="192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367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8B229F-07AE-1950-C57D-86B7FB338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99132D41-03BA-B08F-E3F1-607765522F05}"/>
              </a:ext>
            </a:extLst>
          </p:cNvPr>
          <p:cNvSpPr/>
          <p:nvPr/>
        </p:nvSpPr>
        <p:spPr>
          <a:xfrm>
            <a:off x="3244361" y="41148"/>
            <a:ext cx="247239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39" name="Shape 64">
            <a:extLst>
              <a:ext uri="{FF2B5EF4-FFF2-40B4-BE49-F238E27FC236}">
                <a16:creationId xmlns:a16="http://schemas.microsoft.com/office/drawing/2014/main" id="{B3E25A48-A3E1-B5D5-3DAB-AE3F8387E612}"/>
              </a:ext>
            </a:extLst>
          </p:cNvPr>
          <p:cNvSpPr/>
          <p:nvPr/>
        </p:nvSpPr>
        <p:spPr>
          <a:xfrm>
            <a:off x="6784120" y="1774803"/>
            <a:ext cx="2303356" cy="1231606"/>
          </a:xfrm>
          <a:prstGeom prst="rect">
            <a:avLst/>
          </a:prstGeom>
          <a:solidFill>
            <a:srgbClr val="EDE0FF"/>
          </a:solidFill>
          <a:ln w="12700">
            <a:solidFill>
              <a:srgbClr val="C4A8F0"/>
            </a:solidFill>
            <a:prstDash val="solid"/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Calculated average returns across different weekdays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Identified best (Thursday) and worst (Tuesday) performing days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Compared return distribution to observe consistency and variability</a:t>
            </a:r>
            <a:endParaRPr lang="en-IN" sz="1050" dirty="0"/>
          </a:p>
        </p:txBody>
      </p:sp>
      <p:sp>
        <p:nvSpPr>
          <p:cNvPr id="40" name="Rectangle: Single Corner Rounded 39">
            <a:extLst>
              <a:ext uri="{FF2B5EF4-FFF2-40B4-BE49-F238E27FC236}">
                <a16:creationId xmlns:a16="http://schemas.microsoft.com/office/drawing/2014/main" id="{96C3820C-85EE-12FB-A780-0B83F99858C2}"/>
              </a:ext>
            </a:extLst>
          </p:cNvPr>
          <p:cNvSpPr/>
          <p:nvPr/>
        </p:nvSpPr>
        <p:spPr>
          <a:xfrm rot="16200000">
            <a:off x="4367490" y="-1760748"/>
            <a:ext cx="226137" cy="3829930"/>
          </a:xfrm>
          <a:prstGeom prst="round1Rect">
            <a:avLst/>
          </a:prstGeom>
          <a:noFill/>
          <a:ln w="952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3898BB8-9923-CC9C-CC19-966A3C759C2E}"/>
              </a:ext>
            </a:extLst>
          </p:cNvPr>
          <p:cNvSpPr txBox="1"/>
          <p:nvPr/>
        </p:nvSpPr>
        <p:spPr>
          <a:xfrm>
            <a:off x="2614389" y="19421"/>
            <a:ext cx="37323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rgbClr val="672B77"/>
                </a:solidFill>
              </a:rPr>
              <a:t>Returns &amp; Performance wise problem statements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B429E97-BB4B-12E3-D9E7-32C3D2223363}"/>
              </a:ext>
            </a:extLst>
          </p:cNvPr>
          <p:cNvSpPr txBox="1"/>
          <p:nvPr/>
        </p:nvSpPr>
        <p:spPr>
          <a:xfrm>
            <a:off x="120691" y="1652271"/>
            <a:ext cx="5649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10. Which days have best/worst average returns?</a:t>
            </a:r>
          </a:p>
          <a:p>
            <a:endParaRPr lang="en-US" sz="12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4450E5B-EA80-2D60-A61D-12E35BD09B97}"/>
              </a:ext>
            </a:extLst>
          </p:cNvPr>
          <p:cNvSpPr txBox="1"/>
          <p:nvPr/>
        </p:nvSpPr>
        <p:spPr>
          <a:xfrm>
            <a:off x="60657" y="3295602"/>
            <a:ext cx="55672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11. Which months show best/worst performance?</a:t>
            </a:r>
          </a:p>
          <a:p>
            <a:endParaRPr lang="en-US" sz="12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6BF9DC9-B318-A761-837C-9C200F858E11}"/>
              </a:ext>
            </a:extLst>
          </p:cNvPr>
          <p:cNvSpPr txBox="1"/>
          <p:nvPr/>
        </p:nvSpPr>
        <p:spPr>
          <a:xfrm>
            <a:off x="197539" y="452628"/>
            <a:ext cx="16670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/>
              <a:t>Core logic used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DD377E6-B737-977C-E648-F8BEB45DEBED}"/>
              </a:ext>
            </a:extLst>
          </p:cNvPr>
          <p:cNvSpPr txBox="1"/>
          <p:nvPr/>
        </p:nvSpPr>
        <p:spPr>
          <a:xfrm>
            <a:off x="228304" y="1858323"/>
            <a:ext cx="115531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b="1" dirty="0"/>
              <a:t>Core logic used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848F17F-8BA7-909F-25D9-EE4C856E923D}"/>
              </a:ext>
            </a:extLst>
          </p:cNvPr>
          <p:cNvCxnSpPr/>
          <p:nvPr/>
        </p:nvCxnSpPr>
        <p:spPr>
          <a:xfrm>
            <a:off x="1222723" y="583433"/>
            <a:ext cx="225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6F95412-FF73-287F-BE69-31334992CF1C}"/>
              </a:ext>
            </a:extLst>
          </p:cNvPr>
          <p:cNvCxnSpPr/>
          <p:nvPr/>
        </p:nvCxnSpPr>
        <p:spPr>
          <a:xfrm>
            <a:off x="5716758" y="1018700"/>
            <a:ext cx="225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B3B1BD1-D601-B538-0C90-40C0559F6768}"/>
              </a:ext>
            </a:extLst>
          </p:cNvPr>
          <p:cNvCxnSpPr/>
          <p:nvPr/>
        </p:nvCxnSpPr>
        <p:spPr>
          <a:xfrm>
            <a:off x="3244361" y="2406584"/>
            <a:ext cx="225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A2364B8-A1C7-EC62-D719-DA172C23BF15}"/>
              </a:ext>
            </a:extLst>
          </p:cNvPr>
          <p:cNvCxnSpPr/>
          <p:nvPr/>
        </p:nvCxnSpPr>
        <p:spPr>
          <a:xfrm>
            <a:off x="1237662" y="1989128"/>
            <a:ext cx="225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96D31D2-2E58-E1E0-6781-8BAFFB0B3DE5}"/>
              </a:ext>
            </a:extLst>
          </p:cNvPr>
          <p:cNvCxnSpPr/>
          <p:nvPr/>
        </p:nvCxnSpPr>
        <p:spPr>
          <a:xfrm>
            <a:off x="3166347" y="4290197"/>
            <a:ext cx="225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8E305C6-A809-83E8-E7CC-3B7F0D5C5A5B}"/>
              </a:ext>
            </a:extLst>
          </p:cNvPr>
          <p:cNvCxnSpPr/>
          <p:nvPr/>
        </p:nvCxnSpPr>
        <p:spPr>
          <a:xfrm>
            <a:off x="1271073" y="3687241"/>
            <a:ext cx="225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F8787E3-43F5-30B3-00BD-7CBB8241182E}"/>
              </a:ext>
            </a:extLst>
          </p:cNvPr>
          <p:cNvCxnSpPr>
            <a:cxnSpLocks/>
          </p:cNvCxnSpPr>
          <p:nvPr/>
        </p:nvCxnSpPr>
        <p:spPr>
          <a:xfrm>
            <a:off x="7110915" y="4290197"/>
            <a:ext cx="1488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351DDA30-7CAA-4370-6A90-2E7C75CE7CFC}"/>
              </a:ext>
            </a:extLst>
          </p:cNvPr>
          <p:cNvSpPr txBox="1"/>
          <p:nvPr/>
        </p:nvSpPr>
        <p:spPr>
          <a:xfrm>
            <a:off x="224201" y="3548977"/>
            <a:ext cx="15140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b="1" dirty="0"/>
              <a:t>Core logic used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F54F91BC-A5D6-EF5D-DCA7-219A50735B12}"/>
              </a:ext>
            </a:extLst>
          </p:cNvPr>
          <p:cNvCxnSpPr>
            <a:cxnSpLocks/>
          </p:cNvCxnSpPr>
          <p:nvPr/>
        </p:nvCxnSpPr>
        <p:spPr>
          <a:xfrm>
            <a:off x="6625241" y="2399974"/>
            <a:ext cx="1547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8B2AA43-17F0-2FB3-01F0-FD7E4EDA605F}"/>
              </a:ext>
            </a:extLst>
          </p:cNvPr>
          <p:cNvSpPr txBox="1"/>
          <p:nvPr/>
        </p:nvSpPr>
        <p:spPr>
          <a:xfrm>
            <a:off x="60657" y="262908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5. Which companies give best/worst returns?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75F0A7-14DD-A8A6-0EC7-335D1CF42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91" y="941231"/>
            <a:ext cx="5507256" cy="1549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5BFF70-B639-693A-18D6-F28EF586B6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8396" y="452628"/>
            <a:ext cx="3104947" cy="9801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0F9AAE-216C-BCE7-E855-3A81AC2F84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691" y="2140802"/>
            <a:ext cx="3045656" cy="3027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0021D2B-8466-EC7A-01B2-B5315B921F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526" y="2746363"/>
            <a:ext cx="1543427" cy="401599"/>
          </a:xfrm>
          <a:prstGeom prst="rect">
            <a:avLst/>
          </a:prstGeom>
        </p:spPr>
      </p:pic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EA8AF3A3-AA89-F5C6-A31C-7D2F81AA1664}"/>
              </a:ext>
            </a:extLst>
          </p:cNvPr>
          <p:cNvCxnSpPr/>
          <p:nvPr/>
        </p:nvCxnSpPr>
        <p:spPr>
          <a:xfrm rot="16200000" flipH="1">
            <a:off x="1499326" y="2482683"/>
            <a:ext cx="288388" cy="225083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1719D5CB-0513-7A02-1CD2-4826B0E9E03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12481"/>
          <a:stretch>
            <a:fillRect/>
          </a:stretch>
        </p:blipFill>
        <p:spPr>
          <a:xfrm>
            <a:off x="3519311" y="1497494"/>
            <a:ext cx="3114738" cy="175193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DCFE70C-551E-F328-A62B-815BC9E5B4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692" y="3921085"/>
            <a:ext cx="3045656" cy="267476"/>
          </a:xfrm>
          <a:prstGeom prst="rect">
            <a:avLst/>
          </a:prstGeom>
        </p:spPr>
      </p:pic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EDB0FE60-9155-A7C3-4DD2-A78FBEDC9A6E}"/>
              </a:ext>
            </a:extLst>
          </p:cNvPr>
          <p:cNvCxnSpPr/>
          <p:nvPr/>
        </p:nvCxnSpPr>
        <p:spPr>
          <a:xfrm rot="16200000" flipH="1">
            <a:off x="1426643" y="4202274"/>
            <a:ext cx="288388" cy="225083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917EE494-9882-90CC-2E94-9E598B0093F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6526" y="4459010"/>
            <a:ext cx="1543427" cy="33430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318BD52-4953-69F4-084E-5184A57AD4C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077" t="4802" b="6288"/>
          <a:stretch>
            <a:fillRect/>
          </a:stretch>
        </p:blipFill>
        <p:spPr>
          <a:xfrm>
            <a:off x="3512517" y="3348438"/>
            <a:ext cx="3598398" cy="1736369"/>
          </a:xfrm>
          <a:prstGeom prst="rect">
            <a:avLst/>
          </a:prstGeom>
        </p:spPr>
      </p:pic>
      <p:sp>
        <p:nvSpPr>
          <p:cNvPr id="26" name="Shape 64">
            <a:extLst>
              <a:ext uri="{FF2B5EF4-FFF2-40B4-BE49-F238E27FC236}">
                <a16:creationId xmlns:a16="http://schemas.microsoft.com/office/drawing/2014/main" id="{8E6A90CA-0C42-E248-FB5D-2C670E4C1071}"/>
              </a:ext>
            </a:extLst>
          </p:cNvPr>
          <p:cNvSpPr/>
          <p:nvPr/>
        </p:nvSpPr>
        <p:spPr>
          <a:xfrm>
            <a:off x="7267471" y="3921085"/>
            <a:ext cx="1820005" cy="741321"/>
          </a:xfrm>
          <a:prstGeom prst="rect">
            <a:avLst/>
          </a:prstGeom>
          <a:solidFill>
            <a:srgbClr val="EDE0FF"/>
          </a:solidFill>
          <a:ln w="12700">
            <a:solidFill>
              <a:srgbClr val="C4A8F0"/>
            </a:solidFill>
            <a:prstDash val="solid"/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Identified best &amp; worst months using returns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Visualized monthly trend using candlestick chart</a:t>
            </a:r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651901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144FE0-0236-918B-AAC7-5C15BDABF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EF9C493D-FA5E-506C-EC78-BE754039A016}"/>
              </a:ext>
            </a:extLst>
          </p:cNvPr>
          <p:cNvSpPr/>
          <p:nvPr/>
        </p:nvSpPr>
        <p:spPr>
          <a:xfrm>
            <a:off x="3244361" y="41148"/>
            <a:ext cx="247239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40" name="Rectangle: Single Corner Rounded 39">
            <a:extLst>
              <a:ext uri="{FF2B5EF4-FFF2-40B4-BE49-F238E27FC236}">
                <a16:creationId xmlns:a16="http://schemas.microsoft.com/office/drawing/2014/main" id="{D81CA7AA-0359-F5B5-6446-F7BD2D82F54E}"/>
              </a:ext>
            </a:extLst>
          </p:cNvPr>
          <p:cNvSpPr/>
          <p:nvPr/>
        </p:nvSpPr>
        <p:spPr>
          <a:xfrm rot="16200000">
            <a:off x="4367490" y="-1760748"/>
            <a:ext cx="226137" cy="3829930"/>
          </a:xfrm>
          <a:prstGeom prst="round1Rect">
            <a:avLst/>
          </a:prstGeom>
          <a:noFill/>
          <a:ln w="952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3AD9034-0A93-BF87-049E-DA0AAC2A9B5A}"/>
              </a:ext>
            </a:extLst>
          </p:cNvPr>
          <p:cNvSpPr txBox="1"/>
          <p:nvPr/>
        </p:nvSpPr>
        <p:spPr>
          <a:xfrm>
            <a:off x="2614389" y="19421"/>
            <a:ext cx="37323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rgbClr val="672B77"/>
                </a:solidFill>
              </a:rPr>
              <a:t>Market Behaviour &amp; Patterns wise problem statements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0C6AC32-FEF8-E858-04DD-FBC5976BD6AC}"/>
              </a:ext>
            </a:extLst>
          </p:cNvPr>
          <p:cNvSpPr txBox="1"/>
          <p:nvPr/>
        </p:nvSpPr>
        <p:spPr>
          <a:xfrm>
            <a:off x="60657" y="1650839"/>
            <a:ext cx="55672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8. Which companies have most extreme daily gains/losses?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EA473C7-A0CC-00D1-AF7A-F0D4FED9975C}"/>
              </a:ext>
            </a:extLst>
          </p:cNvPr>
          <p:cNvSpPr txBox="1"/>
          <p:nvPr/>
        </p:nvSpPr>
        <p:spPr>
          <a:xfrm>
            <a:off x="197539" y="452628"/>
            <a:ext cx="16670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/>
              <a:t>Core logic used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284521C-7452-70D7-C00F-90954F06E928}"/>
              </a:ext>
            </a:extLst>
          </p:cNvPr>
          <p:cNvSpPr txBox="1"/>
          <p:nvPr/>
        </p:nvSpPr>
        <p:spPr>
          <a:xfrm>
            <a:off x="228304" y="1858323"/>
            <a:ext cx="115531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b="1" dirty="0"/>
              <a:t>Core logic used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469BE6C-5D54-BBF2-7F6C-95FF6ED6C948}"/>
              </a:ext>
            </a:extLst>
          </p:cNvPr>
          <p:cNvCxnSpPr/>
          <p:nvPr/>
        </p:nvCxnSpPr>
        <p:spPr>
          <a:xfrm>
            <a:off x="1222723" y="583433"/>
            <a:ext cx="225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33A6920-A683-B0C6-104C-E0727A2D124E}"/>
              </a:ext>
            </a:extLst>
          </p:cNvPr>
          <p:cNvCxnSpPr/>
          <p:nvPr/>
        </p:nvCxnSpPr>
        <p:spPr>
          <a:xfrm>
            <a:off x="5604216" y="1072221"/>
            <a:ext cx="225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6DD8EAE-8BA1-B90C-3E5C-0080537391A7}"/>
              </a:ext>
            </a:extLst>
          </p:cNvPr>
          <p:cNvCxnSpPr/>
          <p:nvPr/>
        </p:nvCxnSpPr>
        <p:spPr>
          <a:xfrm>
            <a:off x="3680459" y="1060370"/>
            <a:ext cx="225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0A7F632-15B0-1C21-76D7-2A8010764C6F}"/>
              </a:ext>
            </a:extLst>
          </p:cNvPr>
          <p:cNvCxnSpPr/>
          <p:nvPr/>
        </p:nvCxnSpPr>
        <p:spPr>
          <a:xfrm>
            <a:off x="1237662" y="1989128"/>
            <a:ext cx="225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7307E63-ED83-89CB-110D-682A020848F3}"/>
              </a:ext>
            </a:extLst>
          </p:cNvPr>
          <p:cNvCxnSpPr/>
          <p:nvPr/>
        </p:nvCxnSpPr>
        <p:spPr>
          <a:xfrm>
            <a:off x="3847735" y="4388671"/>
            <a:ext cx="225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09286AE-A86E-D638-3C42-BFA6F6B22A0B}"/>
              </a:ext>
            </a:extLst>
          </p:cNvPr>
          <p:cNvCxnSpPr/>
          <p:nvPr/>
        </p:nvCxnSpPr>
        <p:spPr>
          <a:xfrm>
            <a:off x="1271073" y="3687241"/>
            <a:ext cx="225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03F591FF-DAB3-3628-725F-D46A6EEBB0B2}"/>
              </a:ext>
            </a:extLst>
          </p:cNvPr>
          <p:cNvSpPr txBox="1"/>
          <p:nvPr/>
        </p:nvSpPr>
        <p:spPr>
          <a:xfrm>
            <a:off x="224201" y="3548977"/>
            <a:ext cx="15140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b="1" dirty="0"/>
              <a:t>Core logic used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01EE7E0E-138B-30A2-1618-A67CB80B22BE}"/>
              </a:ext>
            </a:extLst>
          </p:cNvPr>
          <p:cNvCxnSpPr>
            <a:cxnSpLocks/>
          </p:cNvCxnSpPr>
          <p:nvPr/>
        </p:nvCxnSpPr>
        <p:spPr>
          <a:xfrm>
            <a:off x="5219114" y="2617171"/>
            <a:ext cx="1547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62FB9E6-4BA9-7195-5F2A-9346C6CADD9E}"/>
              </a:ext>
            </a:extLst>
          </p:cNvPr>
          <p:cNvSpPr txBox="1"/>
          <p:nvPr/>
        </p:nvSpPr>
        <p:spPr>
          <a:xfrm>
            <a:off x="60657" y="262908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6. What percentage of days are bullish vs bearish?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7A00BC-BEC7-F635-831D-B8357B1A3893}"/>
              </a:ext>
            </a:extLst>
          </p:cNvPr>
          <p:cNvSpPr txBox="1"/>
          <p:nvPr/>
        </p:nvSpPr>
        <p:spPr>
          <a:xfrm>
            <a:off x="60656" y="3274754"/>
            <a:ext cx="60798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9. How frequently do Gap Up and Gap Down occur?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9E137F-4791-8786-A2C2-306018F80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44" y="911204"/>
            <a:ext cx="3350631" cy="3244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3462738-0F20-249F-08EC-810BFF69DD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779" t="3761" r="51829" b="59820"/>
          <a:stretch>
            <a:fillRect/>
          </a:stretch>
        </p:blipFill>
        <p:spPr>
          <a:xfrm>
            <a:off x="4072818" y="485251"/>
            <a:ext cx="1393442" cy="111568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A9578FE-8B24-43BE-AB8A-51A64875F8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27" t="38971" r="38079" b="6168"/>
          <a:stretch>
            <a:fillRect/>
          </a:stretch>
        </p:blipFill>
        <p:spPr>
          <a:xfrm>
            <a:off x="5922062" y="315689"/>
            <a:ext cx="1715847" cy="133515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15BBF2E-D9FE-7A6A-C80A-FE65D18EC3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539" y="2484934"/>
            <a:ext cx="5021575" cy="26161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BC2A721-3F75-B4DC-F833-26F0726483E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462" r="26000" b="7174"/>
          <a:stretch>
            <a:fillRect/>
          </a:stretch>
        </p:blipFill>
        <p:spPr>
          <a:xfrm>
            <a:off x="5466260" y="1683462"/>
            <a:ext cx="3396386" cy="181102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7746385-AF7C-42E9-FB97-9E710D6F93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243" y="4003403"/>
            <a:ext cx="3623101" cy="74131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C401B75-193E-C5C9-479F-B8EE8C1CA13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2180" t="44141" r="32648" b="2907"/>
          <a:stretch>
            <a:fillRect/>
          </a:stretch>
        </p:blipFill>
        <p:spPr>
          <a:xfrm>
            <a:off x="6628284" y="3551753"/>
            <a:ext cx="1910805" cy="151472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A8B4D2F-7865-AC14-EF85-D28FB2D66D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00081" y="4101886"/>
            <a:ext cx="1840466" cy="573570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3AC128F-E5CD-2690-A590-5E231D1A1BFB}"/>
              </a:ext>
            </a:extLst>
          </p:cNvPr>
          <p:cNvCxnSpPr/>
          <p:nvPr/>
        </p:nvCxnSpPr>
        <p:spPr>
          <a:xfrm>
            <a:off x="6234184" y="4388671"/>
            <a:ext cx="225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8982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13D23B-2049-FB02-9932-D754C8113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D0EBF801-57E2-C6E3-DED4-EBC471988E54}"/>
              </a:ext>
            </a:extLst>
          </p:cNvPr>
          <p:cNvSpPr/>
          <p:nvPr/>
        </p:nvSpPr>
        <p:spPr>
          <a:xfrm>
            <a:off x="3244361" y="41148"/>
            <a:ext cx="247239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40" name="Rectangle: Single Corner Rounded 39">
            <a:extLst>
              <a:ext uri="{FF2B5EF4-FFF2-40B4-BE49-F238E27FC236}">
                <a16:creationId xmlns:a16="http://schemas.microsoft.com/office/drawing/2014/main" id="{59BBB671-78A4-4E18-6ADC-D3D87F747C9D}"/>
              </a:ext>
            </a:extLst>
          </p:cNvPr>
          <p:cNvSpPr/>
          <p:nvPr/>
        </p:nvSpPr>
        <p:spPr>
          <a:xfrm rot="16200000">
            <a:off x="4367490" y="-1760748"/>
            <a:ext cx="226137" cy="3829930"/>
          </a:xfrm>
          <a:prstGeom prst="round1Rect">
            <a:avLst/>
          </a:prstGeom>
          <a:noFill/>
          <a:ln w="952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8025BE5-7886-605C-AA1E-BB1AE9DFF823}"/>
              </a:ext>
            </a:extLst>
          </p:cNvPr>
          <p:cNvSpPr txBox="1"/>
          <p:nvPr/>
        </p:nvSpPr>
        <p:spPr>
          <a:xfrm>
            <a:off x="2614389" y="19421"/>
            <a:ext cx="37323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rgbClr val="672B77"/>
                </a:solidFill>
              </a:rPr>
              <a:t>Price Position (52-Week Analysis)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3ADE173-1A22-A114-9826-EE90F54F5927}"/>
              </a:ext>
            </a:extLst>
          </p:cNvPr>
          <p:cNvSpPr txBox="1"/>
          <p:nvPr/>
        </p:nvSpPr>
        <p:spPr>
          <a:xfrm>
            <a:off x="281945" y="798760"/>
            <a:ext cx="16670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/>
              <a:t>Core logic used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25039D2-A953-41FC-9827-7F5D10C654F5}"/>
              </a:ext>
            </a:extLst>
          </p:cNvPr>
          <p:cNvCxnSpPr/>
          <p:nvPr/>
        </p:nvCxnSpPr>
        <p:spPr>
          <a:xfrm>
            <a:off x="4255474" y="3318434"/>
            <a:ext cx="225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847AFD4-6F07-E900-C7FA-211509DC19B6}"/>
              </a:ext>
            </a:extLst>
          </p:cNvPr>
          <p:cNvCxnSpPr/>
          <p:nvPr/>
        </p:nvCxnSpPr>
        <p:spPr>
          <a:xfrm>
            <a:off x="1415560" y="929565"/>
            <a:ext cx="225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A67FA71-EAFD-924B-374A-411F1D8C59F2}"/>
              </a:ext>
            </a:extLst>
          </p:cNvPr>
          <p:cNvSpPr txBox="1"/>
          <p:nvPr/>
        </p:nvSpPr>
        <p:spPr>
          <a:xfrm>
            <a:off x="60657" y="510673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12. What percentage distance is price from 52-week extremes?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777CA7-5638-69F5-BAE6-056CD2092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50" y="1081777"/>
            <a:ext cx="6828109" cy="456724"/>
          </a:xfrm>
          <a:prstGeom prst="rect">
            <a:avLst/>
          </a:prstGeom>
        </p:spPr>
      </p:pic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9E02A898-D7DF-D1FD-CC59-4B50EF6A0494}"/>
              </a:ext>
            </a:extLst>
          </p:cNvPr>
          <p:cNvCxnSpPr/>
          <p:nvPr/>
        </p:nvCxnSpPr>
        <p:spPr>
          <a:xfrm rot="16200000" flipH="1">
            <a:off x="2399857" y="1638262"/>
            <a:ext cx="429065" cy="225082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D9D9D7DE-6528-6436-E321-E4E64770CA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928" y="1984831"/>
            <a:ext cx="2788922" cy="3100257"/>
          </a:xfrm>
          <a:prstGeom prst="rect">
            <a:avLst/>
          </a:prstGeom>
        </p:spPr>
      </p:pic>
      <p:sp>
        <p:nvSpPr>
          <p:cNvPr id="13" name="Shape 64">
            <a:extLst>
              <a:ext uri="{FF2B5EF4-FFF2-40B4-BE49-F238E27FC236}">
                <a16:creationId xmlns:a16="http://schemas.microsoft.com/office/drawing/2014/main" id="{F11FF400-DCE1-F535-5491-191C5BD3DDD6}"/>
              </a:ext>
            </a:extLst>
          </p:cNvPr>
          <p:cNvSpPr/>
          <p:nvPr/>
        </p:nvSpPr>
        <p:spPr>
          <a:xfrm>
            <a:off x="4879729" y="1965336"/>
            <a:ext cx="2489284" cy="3117520"/>
          </a:xfrm>
          <a:prstGeom prst="rect">
            <a:avLst/>
          </a:prstGeom>
          <a:solidFill>
            <a:srgbClr val="EDE0FF"/>
          </a:solidFill>
          <a:ln w="12700">
            <a:solidFill>
              <a:srgbClr val="C4A8F0"/>
            </a:solidFill>
            <a:prstDash val="solid"/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Calculated price distance from 52-week high and 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Evaluated current price positioning relative to extremes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Identified stocks trading near 52-week highs (bullish signal)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Detected stocks near 52-week lows (potential risk/opportunity)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Highlighted overall market positioning trend across companies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981353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DAC5B-ED9E-94C2-F939-9E1CD8BFB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679B5388-9754-86E3-AEA3-E9A803A6E948}"/>
              </a:ext>
            </a:extLst>
          </p:cNvPr>
          <p:cNvSpPr/>
          <p:nvPr/>
        </p:nvSpPr>
        <p:spPr>
          <a:xfrm>
            <a:off x="137160" y="45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03894BA-6B1C-692C-7124-5872EF5C9DA5}"/>
              </a:ext>
            </a:extLst>
          </p:cNvPr>
          <p:cNvSpPr/>
          <p:nvPr/>
        </p:nvSpPr>
        <p:spPr>
          <a:xfrm>
            <a:off x="1739567" y="347472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A86BB9-C7E7-8C7A-77AA-70FA151123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09" r="1082"/>
          <a:stretch>
            <a:fillRect/>
          </a:stretch>
        </p:blipFill>
        <p:spPr>
          <a:xfrm>
            <a:off x="520503" y="274320"/>
            <a:ext cx="8172001" cy="35872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3F9E60-B001-3CB9-76A1-BEC239586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504" y="3798339"/>
            <a:ext cx="8172000" cy="1216793"/>
          </a:xfrm>
          <a:prstGeom prst="rect">
            <a:avLst/>
          </a:prstGeom>
        </p:spPr>
      </p:pic>
      <p:sp>
        <p:nvSpPr>
          <p:cNvPr id="8" name="Shape 64">
            <a:extLst>
              <a:ext uri="{FF2B5EF4-FFF2-40B4-BE49-F238E27FC236}">
                <a16:creationId xmlns:a16="http://schemas.microsoft.com/office/drawing/2014/main" id="{938A595B-624A-8AB3-47C0-5657319B2863}"/>
              </a:ext>
            </a:extLst>
          </p:cNvPr>
          <p:cNvSpPr/>
          <p:nvPr/>
        </p:nvSpPr>
        <p:spPr>
          <a:xfrm>
            <a:off x="3414704" y="0"/>
            <a:ext cx="2383597" cy="274320"/>
          </a:xfrm>
          <a:prstGeom prst="rect">
            <a:avLst/>
          </a:prstGeom>
          <a:solidFill>
            <a:srgbClr val="EDE0FF"/>
          </a:solidFill>
          <a:ln w="12700">
            <a:solidFill>
              <a:srgbClr val="C4A8F0"/>
            </a:solidFill>
            <a:prstDash val="solid"/>
          </a:ln>
        </p:spPr>
        <p:txBody>
          <a:bodyPr/>
          <a:lstStyle/>
          <a:p>
            <a:pPr algn="ctr"/>
            <a:r>
              <a:rPr lang="en-IN" sz="1400" b="1" dirty="0"/>
              <a:t>DASHBOARD - 1</a:t>
            </a:r>
          </a:p>
        </p:txBody>
      </p:sp>
    </p:spTree>
    <p:extLst>
      <p:ext uri="{BB962C8B-B14F-4D97-AF65-F5344CB8AC3E}">
        <p14:creationId xmlns:p14="http://schemas.microsoft.com/office/powerpoint/2010/main" val="31723651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E80CE4-9B97-CBA9-86FA-409E3E687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3CE68B61-7FC8-4E02-D9DC-EBB946A646B2}"/>
              </a:ext>
            </a:extLst>
          </p:cNvPr>
          <p:cNvSpPr/>
          <p:nvPr/>
        </p:nvSpPr>
        <p:spPr>
          <a:xfrm>
            <a:off x="137160" y="45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DBEF88-DA27-3682-C75E-209DE741A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54" y="758952"/>
            <a:ext cx="8517989" cy="41858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6A2AAE-730E-6292-482B-9368271878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454" y="350563"/>
            <a:ext cx="8517989" cy="433887"/>
          </a:xfrm>
          <a:prstGeom prst="rect">
            <a:avLst/>
          </a:prstGeom>
        </p:spPr>
      </p:pic>
      <p:sp>
        <p:nvSpPr>
          <p:cNvPr id="9" name="Shape 64">
            <a:extLst>
              <a:ext uri="{FF2B5EF4-FFF2-40B4-BE49-F238E27FC236}">
                <a16:creationId xmlns:a16="http://schemas.microsoft.com/office/drawing/2014/main" id="{FA1DE255-3120-B52A-DD86-E2A99259031D}"/>
              </a:ext>
            </a:extLst>
          </p:cNvPr>
          <p:cNvSpPr/>
          <p:nvPr/>
        </p:nvSpPr>
        <p:spPr>
          <a:xfrm>
            <a:off x="3414704" y="0"/>
            <a:ext cx="2383597" cy="274320"/>
          </a:xfrm>
          <a:prstGeom prst="rect">
            <a:avLst/>
          </a:prstGeom>
          <a:solidFill>
            <a:srgbClr val="EDE0FF"/>
          </a:solidFill>
          <a:ln w="12700">
            <a:solidFill>
              <a:srgbClr val="C4A8F0"/>
            </a:solidFill>
            <a:prstDash val="solid"/>
          </a:ln>
        </p:spPr>
        <p:txBody>
          <a:bodyPr/>
          <a:lstStyle/>
          <a:p>
            <a:pPr algn="ctr"/>
            <a:r>
              <a:rPr lang="en-IN" sz="1400" b="1" dirty="0"/>
              <a:t>DASHBOARD - 2</a:t>
            </a:r>
          </a:p>
        </p:txBody>
      </p:sp>
    </p:spTree>
    <p:extLst>
      <p:ext uri="{BB962C8B-B14F-4D97-AF65-F5344CB8AC3E}">
        <p14:creationId xmlns:p14="http://schemas.microsoft.com/office/powerpoint/2010/main" val="3222638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8288"/>
            <a:ext cx="9144000" cy="50292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64008" cy="4640580"/>
          </a:xfrm>
          <a:prstGeom prst="rect">
            <a:avLst/>
          </a:prstGeom>
          <a:solidFill>
            <a:srgbClr val="7B3FBE"/>
          </a:solidFill>
          <a:ln w="12700">
            <a:solidFill>
              <a:srgbClr val="7B3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24786" y="10551"/>
            <a:ext cx="30773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543930" y="5303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672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Reveals — Volatility &amp; Volume , Monthly Returns, Weekday Effects &amp; Gap </a:t>
            </a:r>
            <a:r>
              <a:rPr lang="en-US" sz="1100" b="1" dirty="0" err="1">
                <a:solidFill>
                  <a:srgbClr val="672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1100" b="1" dirty="0">
              <a:solidFill>
                <a:srgbClr val="672B77"/>
              </a:solidFill>
            </a:endParaRP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493073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50 stocks show stable overall volatility with notable seasonal spikes</a:t>
            </a:r>
            <a:endParaRPr lang="en-US" sz="1100" dirty="0">
              <a:solidFill>
                <a:srgbClr val="7030A0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245305" y="942588"/>
            <a:ext cx="3264935" cy="948521"/>
          </a:xfrm>
          <a:prstGeom prst="rect">
            <a:avLst/>
          </a:prstGeom>
          <a:solidFill>
            <a:srgbClr val="FFFFFF"/>
          </a:solidFill>
          <a:ln w="15240">
            <a:solidFill>
              <a:srgbClr val="E0D5F5"/>
            </a:solidFill>
            <a:prstDash val="solid"/>
          </a:ln>
          <a:effectLst>
            <a:outerShdw blurRad="101600" dist="25400" dir="8100000" algn="bl" rotWithShape="0">
              <a:srgbClr val="9B6FE8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29426" y="1008128"/>
            <a:ext cx="793066" cy="274320"/>
          </a:xfrm>
          <a:prstGeom prst="rect">
            <a:avLst/>
          </a:prstGeom>
          <a:solidFill>
            <a:srgbClr val="F07A7A">
              <a:alpha val="25000"/>
            </a:srgbClr>
          </a:solidFill>
          <a:ln w="12700">
            <a:solidFill>
              <a:srgbClr val="F07A7A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09971" y="99799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20624" y="970540"/>
            <a:ext cx="307847" cy="294014"/>
          </a:xfrm>
          <a:prstGeom prst="ellipse">
            <a:avLst/>
          </a:prstGeom>
          <a:solidFill>
            <a:srgbClr val="F07A7A">
              <a:alpha val="75000"/>
            </a:srgbClr>
          </a:solidFill>
          <a:ln w="12700">
            <a:solidFill>
              <a:srgbClr val="F07A7A">
                <a:alpha val="75000"/>
              </a:srgbClr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674" y="1005024"/>
            <a:ext cx="219749" cy="18835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83977" y="99799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— Peak Volatility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53738" y="1456949"/>
            <a:ext cx="27562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exhibits the highest intraday volatility spike across all months, likely driven by quarterly earnings season and global market uncertainty.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236161" y="2975927"/>
            <a:ext cx="3243659" cy="948522"/>
          </a:xfrm>
          <a:prstGeom prst="rect">
            <a:avLst/>
          </a:prstGeom>
          <a:solidFill>
            <a:srgbClr val="FFFFFF"/>
          </a:solidFill>
          <a:ln w="15240">
            <a:solidFill>
              <a:srgbClr val="E0D5F5"/>
            </a:solidFill>
            <a:prstDash val="solid"/>
          </a:ln>
          <a:effectLst>
            <a:outerShdw blurRad="101600" dist="25400" dir="8100000" algn="bl" rotWithShape="0">
              <a:srgbClr val="9B6FE8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605706" y="3057790"/>
            <a:ext cx="818018" cy="274320"/>
          </a:xfrm>
          <a:prstGeom prst="rect">
            <a:avLst/>
          </a:prstGeom>
          <a:solidFill>
            <a:srgbClr val="6ECFB4">
              <a:alpha val="25000"/>
            </a:srgbClr>
          </a:solidFill>
          <a:ln w="12700">
            <a:solidFill>
              <a:srgbClr val="6ECFB4">
                <a:alpha val="5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361474" y="3063417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EC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 flipV="1">
            <a:off x="348903" y="3108984"/>
            <a:ext cx="302158" cy="269143"/>
          </a:xfrm>
          <a:prstGeom prst="ellipse">
            <a:avLst/>
          </a:prstGeom>
          <a:solidFill>
            <a:srgbClr val="6ECFB4">
              <a:alpha val="75000"/>
            </a:srgbClr>
          </a:solidFill>
          <a:ln w="12700">
            <a:solidFill>
              <a:srgbClr val="6ECFB4">
                <a:alpha val="75000"/>
              </a:srgbClr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75" y="309650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83977" y="302255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— Lowest Volatility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553738" y="3161444"/>
            <a:ext cx="303563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shows the most stable price action, coinciding with the start of a new financial year and lower institutional repositioning activity.</a:t>
            </a:r>
            <a:endParaRPr lang="en-US" sz="980" dirty="0"/>
          </a:p>
        </p:txBody>
      </p:sp>
      <p:sp>
        <p:nvSpPr>
          <p:cNvPr id="24" name="Shape 20"/>
          <p:cNvSpPr/>
          <p:nvPr/>
        </p:nvSpPr>
        <p:spPr>
          <a:xfrm>
            <a:off x="231550" y="1988990"/>
            <a:ext cx="3234514" cy="876420"/>
          </a:xfrm>
          <a:prstGeom prst="rect">
            <a:avLst/>
          </a:prstGeom>
          <a:solidFill>
            <a:srgbClr val="FFFFFF"/>
          </a:solidFill>
          <a:ln w="15240">
            <a:solidFill>
              <a:srgbClr val="E0D5F5"/>
            </a:solidFill>
            <a:prstDash val="solid"/>
          </a:ln>
          <a:effectLst>
            <a:outerShdw blurRad="101600" dist="25400" dir="8100000" algn="bl" rotWithShape="0">
              <a:srgbClr val="9B6FE8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2629426" y="2051067"/>
            <a:ext cx="794298" cy="274320"/>
          </a:xfrm>
          <a:prstGeom prst="rect">
            <a:avLst/>
          </a:prstGeom>
          <a:solidFill>
            <a:srgbClr val="7B3FBE">
              <a:alpha val="25000"/>
            </a:srgbClr>
          </a:solidFill>
          <a:ln w="12700">
            <a:solidFill>
              <a:srgbClr val="7B3FBE">
                <a:alpha val="5000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418660" y="20398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B3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SKEWED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343213" y="2088559"/>
            <a:ext cx="307847" cy="274672"/>
          </a:xfrm>
          <a:prstGeom prst="ellipse">
            <a:avLst/>
          </a:prstGeom>
          <a:solidFill>
            <a:srgbClr val="7B3FBE">
              <a:alpha val="75000"/>
            </a:srgbClr>
          </a:solidFill>
          <a:ln w="12700">
            <a:solidFill>
              <a:srgbClr val="7B3FBE">
                <a:alpha val="75000"/>
              </a:srgbClr>
            </a:solidFill>
            <a:prstDash val="solid"/>
          </a:ln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757" y="2096734"/>
            <a:ext cx="259080" cy="268693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82394" y="2052333"/>
            <a:ext cx="1559996" cy="331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is Right-Skewed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553738" y="2246434"/>
            <a:ext cx="2850466" cy="718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trading sessions have low-to-moderate volume. A few extremely high-volume days pull the mean significantly above the median.</a:t>
            </a:r>
            <a:endParaRPr lang="en-US" sz="980" dirty="0"/>
          </a:p>
        </p:txBody>
      </p:sp>
      <p:sp>
        <p:nvSpPr>
          <p:cNvPr id="32" name="Shape 27"/>
          <p:cNvSpPr/>
          <p:nvPr/>
        </p:nvSpPr>
        <p:spPr>
          <a:xfrm>
            <a:off x="228600" y="4034966"/>
            <a:ext cx="3251220" cy="948521"/>
          </a:xfrm>
          <a:prstGeom prst="rect">
            <a:avLst/>
          </a:prstGeom>
          <a:solidFill>
            <a:srgbClr val="FFFFFF"/>
          </a:solidFill>
          <a:ln w="15240">
            <a:solidFill>
              <a:srgbClr val="E0D5F5"/>
            </a:solidFill>
            <a:prstDash val="solid"/>
          </a:ln>
          <a:effectLst>
            <a:outerShdw blurRad="101600" dist="25400" dir="8100000" algn="bl" rotWithShape="0">
              <a:srgbClr val="9B6FE8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4" name="Shape 29"/>
          <p:cNvSpPr/>
          <p:nvPr/>
        </p:nvSpPr>
        <p:spPr>
          <a:xfrm>
            <a:off x="2786984" y="4128403"/>
            <a:ext cx="636740" cy="274320"/>
          </a:xfrm>
          <a:prstGeom prst="rect">
            <a:avLst/>
          </a:prstGeom>
          <a:solidFill>
            <a:srgbClr val="E8C96A">
              <a:alpha val="25000"/>
            </a:srgbClr>
          </a:solidFill>
          <a:ln w="12700">
            <a:solidFill>
              <a:srgbClr val="E8C96A">
                <a:alpha val="50000"/>
              </a:srgbClr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2484177" y="41097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750" dirty="0"/>
          </a:p>
        </p:txBody>
      </p:sp>
      <p:sp>
        <p:nvSpPr>
          <p:cNvPr id="36" name="Shape 31"/>
          <p:cNvSpPr/>
          <p:nvPr/>
        </p:nvSpPr>
        <p:spPr>
          <a:xfrm>
            <a:off x="348903" y="4157031"/>
            <a:ext cx="303159" cy="303159"/>
          </a:xfrm>
          <a:prstGeom prst="ellipse">
            <a:avLst/>
          </a:prstGeom>
          <a:solidFill>
            <a:srgbClr val="E8C96A">
              <a:alpha val="75000"/>
            </a:srgbClr>
          </a:solidFill>
          <a:ln w="12700">
            <a:solidFill>
              <a:srgbClr val="E8C96A">
                <a:alpha val="75000"/>
              </a:srgbClr>
            </a:solidFill>
            <a:prstDash val="solid"/>
          </a:ln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288" y="4145422"/>
            <a:ext cx="222765" cy="30450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3926672" y="4098837"/>
            <a:ext cx="1336333" cy="331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Volatility — Consistent</a:t>
            </a:r>
            <a:endParaRPr lang="en-US" sz="1150" dirty="0"/>
          </a:p>
        </p:txBody>
      </p:sp>
      <p:sp>
        <p:nvSpPr>
          <p:cNvPr id="39" name="Text 33"/>
          <p:cNvSpPr/>
          <p:nvPr/>
        </p:nvSpPr>
        <p:spPr>
          <a:xfrm>
            <a:off x="553738" y="4215589"/>
            <a:ext cx="289170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 for October, volatility levels remain relatively stable across the year, indicating steady market conditions for most stocks.</a:t>
            </a:r>
            <a:endParaRPr lang="en-US" sz="980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35E98FE-6986-11A5-38F3-F067DE2A85A6}"/>
              </a:ext>
            </a:extLst>
          </p:cNvPr>
          <p:cNvSpPr/>
          <p:nvPr/>
        </p:nvSpPr>
        <p:spPr>
          <a:xfrm>
            <a:off x="2145323" y="658368"/>
            <a:ext cx="4593102" cy="201168"/>
          </a:xfrm>
          <a:prstGeom prst="roundRect">
            <a:avLst/>
          </a:prstGeom>
          <a:noFill/>
          <a:ln w="952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Shape 4">
            <a:extLst>
              <a:ext uri="{FF2B5EF4-FFF2-40B4-BE49-F238E27FC236}">
                <a16:creationId xmlns:a16="http://schemas.microsoft.com/office/drawing/2014/main" id="{7E2E866E-7183-2390-6DD5-F44D3AD641E0}"/>
              </a:ext>
            </a:extLst>
          </p:cNvPr>
          <p:cNvSpPr/>
          <p:nvPr/>
        </p:nvSpPr>
        <p:spPr>
          <a:xfrm>
            <a:off x="3593840" y="938231"/>
            <a:ext cx="1319321" cy="797832"/>
          </a:xfrm>
          <a:prstGeom prst="rect">
            <a:avLst/>
          </a:prstGeom>
          <a:solidFill>
            <a:srgbClr val="6ECFB4"/>
          </a:solidFill>
          <a:ln w="12700">
            <a:solidFill>
              <a:srgbClr val="6ECFB4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8">
            <a:extLst>
              <a:ext uri="{FF2B5EF4-FFF2-40B4-BE49-F238E27FC236}">
                <a16:creationId xmlns:a16="http://schemas.microsoft.com/office/drawing/2014/main" id="{3ED60EEF-8A14-D724-967B-EB2249539559}"/>
              </a:ext>
            </a:extLst>
          </p:cNvPr>
          <p:cNvSpPr/>
          <p:nvPr/>
        </p:nvSpPr>
        <p:spPr>
          <a:xfrm>
            <a:off x="4974654" y="938231"/>
            <a:ext cx="1440320" cy="797832"/>
          </a:xfrm>
          <a:prstGeom prst="rect">
            <a:avLst/>
          </a:prstGeom>
          <a:solidFill>
            <a:srgbClr val="F07A7A"/>
          </a:solidFill>
          <a:ln w="12700">
            <a:solidFill>
              <a:srgbClr val="F07A7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3" name="Shape 12">
            <a:extLst>
              <a:ext uri="{FF2B5EF4-FFF2-40B4-BE49-F238E27FC236}">
                <a16:creationId xmlns:a16="http://schemas.microsoft.com/office/drawing/2014/main" id="{B05C38AF-3C9C-DD12-9DAD-7A483C9EFF44}"/>
              </a:ext>
            </a:extLst>
          </p:cNvPr>
          <p:cNvSpPr/>
          <p:nvPr/>
        </p:nvSpPr>
        <p:spPr>
          <a:xfrm>
            <a:off x="6476467" y="938231"/>
            <a:ext cx="1306149" cy="797832"/>
          </a:xfrm>
          <a:prstGeom prst="rect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16">
            <a:extLst>
              <a:ext uri="{FF2B5EF4-FFF2-40B4-BE49-F238E27FC236}">
                <a16:creationId xmlns:a16="http://schemas.microsoft.com/office/drawing/2014/main" id="{5AD21E9F-BC3A-B930-842E-021DF6283F68}"/>
              </a:ext>
            </a:extLst>
          </p:cNvPr>
          <p:cNvSpPr/>
          <p:nvPr/>
        </p:nvSpPr>
        <p:spPr>
          <a:xfrm>
            <a:off x="7844109" y="927034"/>
            <a:ext cx="1234440" cy="793475"/>
          </a:xfrm>
          <a:prstGeom prst="rect">
            <a:avLst/>
          </a:prstGeom>
          <a:solidFill>
            <a:srgbClr val="7B3FBE"/>
          </a:solidFill>
          <a:ln w="12700">
            <a:solidFill>
              <a:srgbClr val="7B3FBE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C6E8F60-D682-ED8C-C0D0-14B354EF1A5E}"/>
              </a:ext>
            </a:extLst>
          </p:cNvPr>
          <p:cNvSpPr txBox="1"/>
          <p:nvPr/>
        </p:nvSpPr>
        <p:spPr>
          <a:xfrm>
            <a:off x="3567596" y="926178"/>
            <a:ext cx="1376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</a:t>
            </a:r>
            <a:endParaRPr lang="en-US" sz="1800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6625ACA-E637-AFA8-A245-A960C494C772}"/>
              </a:ext>
            </a:extLst>
          </p:cNvPr>
          <p:cNvSpPr txBox="1"/>
          <p:nvPr/>
        </p:nvSpPr>
        <p:spPr>
          <a:xfrm>
            <a:off x="5188322" y="942588"/>
            <a:ext cx="9777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</a:t>
            </a:r>
            <a:endParaRPr lang="en-IN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10EAE1E-B73E-0C5B-969D-B3AB5B84195D}"/>
              </a:ext>
            </a:extLst>
          </p:cNvPr>
          <p:cNvSpPr txBox="1"/>
          <p:nvPr/>
        </p:nvSpPr>
        <p:spPr>
          <a:xfrm>
            <a:off x="6595070" y="968468"/>
            <a:ext cx="1416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</a:t>
            </a:r>
            <a:endParaRPr lang="en-IN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054AB60-A12D-08EE-33A3-B2EFE918E5D2}"/>
              </a:ext>
            </a:extLst>
          </p:cNvPr>
          <p:cNvSpPr txBox="1"/>
          <p:nvPr/>
        </p:nvSpPr>
        <p:spPr>
          <a:xfrm>
            <a:off x="8050923" y="996203"/>
            <a:ext cx="8088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~55%</a:t>
            </a:r>
            <a:endParaRPr lang="en-US" sz="1800" dirty="0"/>
          </a:p>
        </p:txBody>
      </p:sp>
      <p:sp>
        <p:nvSpPr>
          <p:cNvPr id="106" name="Text 6">
            <a:extLst>
              <a:ext uri="{FF2B5EF4-FFF2-40B4-BE49-F238E27FC236}">
                <a16:creationId xmlns:a16="http://schemas.microsoft.com/office/drawing/2014/main" id="{DB40D5FE-35C3-296F-2515-24860F67D37A}"/>
              </a:ext>
            </a:extLst>
          </p:cNvPr>
          <p:cNvSpPr/>
          <p:nvPr/>
        </p:nvSpPr>
        <p:spPr>
          <a:xfrm>
            <a:off x="3190887" y="1224261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Month</a:t>
            </a:r>
            <a:endParaRPr lang="en-US" sz="1000" dirty="0">
              <a:solidFill>
                <a:srgbClr val="7030A0"/>
              </a:solidFill>
            </a:endParaRPr>
          </a:p>
        </p:txBody>
      </p:sp>
      <p:sp>
        <p:nvSpPr>
          <p:cNvPr id="107" name="Text 7">
            <a:extLst>
              <a:ext uri="{FF2B5EF4-FFF2-40B4-BE49-F238E27FC236}">
                <a16:creationId xmlns:a16="http://schemas.microsoft.com/office/drawing/2014/main" id="{2E86FA44-940A-77CF-9434-AFF3B1D9ED57}"/>
              </a:ext>
            </a:extLst>
          </p:cNvPr>
          <p:cNvSpPr/>
          <p:nvPr/>
        </p:nvSpPr>
        <p:spPr>
          <a:xfrm>
            <a:off x="3190887" y="14567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avg. returns</a:t>
            </a:r>
            <a:endParaRPr lang="en-US" sz="850" dirty="0">
              <a:solidFill>
                <a:srgbClr val="7030A0"/>
              </a:solidFill>
            </a:endParaRPr>
          </a:p>
        </p:txBody>
      </p:sp>
      <p:sp>
        <p:nvSpPr>
          <p:cNvPr id="108" name="Text 10">
            <a:extLst>
              <a:ext uri="{FF2B5EF4-FFF2-40B4-BE49-F238E27FC236}">
                <a16:creationId xmlns:a16="http://schemas.microsoft.com/office/drawing/2014/main" id="{DD506A3B-554D-DCFD-DBDB-FD5AF704A8FE}"/>
              </a:ext>
            </a:extLst>
          </p:cNvPr>
          <p:cNvSpPr/>
          <p:nvPr/>
        </p:nvSpPr>
        <p:spPr>
          <a:xfrm>
            <a:off x="4593935" y="1216763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Month</a:t>
            </a:r>
            <a:endParaRPr lang="en-US" sz="1000" dirty="0">
              <a:solidFill>
                <a:srgbClr val="7030A0"/>
              </a:solidFill>
            </a:endParaRPr>
          </a:p>
        </p:txBody>
      </p:sp>
      <p:sp>
        <p:nvSpPr>
          <p:cNvPr id="109" name="Text 11">
            <a:extLst>
              <a:ext uri="{FF2B5EF4-FFF2-40B4-BE49-F238E27FC236}">
                <a16:creationId xmlns:a16="http://schemas.microsoft.com/office/drawing/2014/main" id="{773927A0-BC55-36D4-1A25-858E6BA5074F}"/>
              </a:ext>
            </a:extLst>
          </p:cNvPr>
          <p:cNvSpPr/>
          <p:nvPr/>
        </p:nvSpPr>
        <p:spPr>
          <a:xfrm>
            <a:off x="4593935" y="1491083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avg. returns</a:t>
            </a:r>
            <a:endParaRPr lang="en-US" sz="850" dirty="0">
              <a:solidFill>
                <a:srgbClr val="7030A0"/>
              </a:solidFill>
            </a:endParaRPr>
          </a:p>
        </p:txBody>
      </p:sp>
      <p:sp>
        <p:nvSpPr>
          <p:cNvPr id="110" name="Text 14">
            <a:extLst>
              <a:ext uri="{FF2B5EF4-FFF2-40B4-BE49-F238E27FC236}">
                <a16:creationId xmlns:a16="http://schemas.microsoft.com/office/drawing/2014/main" id="{33715ABF-C272-8615-29ED-32E204309EDB}"/>
              </a:ext>
            </a:extLst>
          </p:cNvPr>
          <p:cNvSpPr/>
          <p:nvPr/>
        </p:nvSpPr>
        <p:spPr>
          <a:xfrm>
            <a:off x="6059641" y="12457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Weekday</a:t>
            </a:r>
            <a:endParaRPr lang="en-US" sz="1000" dirty="0">
              <a:solidFill>
                <a:srgbClr val="7030A0"/>
              </a:solidFill>
            </a:endParaRPr>
          </a:p>
        </p:txBody>
      </p:sp>
      <p:sp>
        <p:nvSpPr>
          <p:cNvPr id="111" name="Text 15">
            <a:extLst>
              <a:ext uri="{FF2B5EF4-FFF2-40B4-BE49-F238E27FC236}">
                <a16:creationId xmlns:a16="http://schemas.microsoft.com/office/drawing/2014/main" id="{1EA53D2D-D82B-D718-AB36-5A7BAE9D20CD}"/>
              </a:ext>
            </a:extLst>
          </p:cNvPr>
          <p:cNvSpPr/>
          <p:nvPr/>
        </p:nvSpPr>
        <p:spPr>
          <a:xfrm>
            <a:off x="6077982" y="1507463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daily returns</a:t>
            </a:r>
            <a:endParaRPr lang="en-US" sz="850" dirty="0">
              <a:solidFill>
                <a:srgbClr val="7030A0"/>
              </a:solidFill>
            </a:endParaRPr>
          </a:p>
        </p:txBody>
      </p:sp>
      <p:sp>
        <p:nvSpPr>
          <p:cNvPr id="112" name="Text 18">
            <a:extLst>
              <a:ext uri="{FF2B5EF4-FFF2-40B4-BE49-F238E27FC236}">
                <a16:creationId xmlns:a16="http://schemas.microsoft.com/office/drawing/2014/main" id="{541C5C48-488F-B99F-2688-3FD65BA513BF}"/>
              </a:ext>
            </a:extLst>
          </p:cNvPr>
          <p:cNvSpPr/>
          <p:nvPr/>
        </p:nvSpPr>
        <p:spPr>
          <a:xfrm>
            <a:off x="7444415" y="1259019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D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Gap Days</a:t>
            </a:r>
            <a:endParaRPr lang="en-US" sz="1000" dirty="0"/>
          </a:p>
        </p:txBody>
      </p:sp>
      <p:sp>
        <p:nvSpPr>
          <p:cNvPr id="113" name="Text 19">
            <a:extLst>
              <a:ext uri="{FF2B5EF4-FFF2-40B4-BE49-F238E27FC236}">
                <a16:creationId xmlns:a16="http://schemas.microsoft.com/office/drawing/2014/main" id="{D1FAC5A5-48BB-8C4E-9BDA-4783BCD55A66}"/>
              </a:ext>
            </a:extLst>
          </p:cNvPr>
          <p:cNvSpPr/>
          <p:nvPr/>
        </p:nvSpPr>
        <p:spPr>
          <a:xfrm>
            <a:off x="7444415" y="1491083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ED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open neutral</a:t>
            </a:r>
            <a:endParaRPr lang="en-US" sz="850" dirty="0"/>
          </a:p>
        </p:txBody>
      </p:sp>
      <p:sp>
        <p:nvSpPr>
          <p:cNvPr id="114" name="Shape 20">
            <a:extLst>
              <a:ext uri="{FF2B5EF4-FFF2-40B4-BE49-F238E27FC236}">
                <a16:creationId xmlns:a16="http://schemas.microsoft.com/office/drawing/2014/main" id="{88BF8E09-4694-E25F-59EC-6D0C08BC9E7D}"/>
              </a:ext>
            </a:extLst>
          </p:cNvPr>
          <p:cNvSpPr/>
          <p:nvPr/>
        </p:nvSpPr>
        <p:spPr>
          <a:xfrm>
            <a:off x="3703846" y="2145712"/>
            <a:ext cx="1758920" cy="2511398"/>
          </a:xfrm>
          <a:prstGeom prst="rect">
            <a:avLst/>
          </a:prstGeom>
          <a:solidFill>
            <a:srgbClr val="FFFFFF"/>
          </a:solidFill>
          <a:ln w="15240">
            <a:solidFill>
              <a:srgbClr val="E0D5F5"/>
            </a:solidFill>
            <a:prstDash val="solid"/>
          </a:ln>
          <a:effectLst>
            <a:outerShdw blurRad="101600" dist="25400" dir="8100000" algn="bl" rotWithShape="0">
              <a:srgbClr val="9B6FE8">
                <a:alpha val="10000"/>
              </a:srgbClr>
            </a:outerShdw>
          </a:effectLst>
        </p:spPr>
      </p:sp>
      <p:sp>
        <p:nvSpPr>
          <p:cNvPr id="115" name="Shape 21">
            <a:extLst>
              <a:ext uri="{FF2B5EF4-FFF2-40B4-BE49-F238E27FC236}">
                <a16:creationId xmlns:a16="http://schemas.microsoft.com/office/drawing/2014/main" id="{46733404-5D39-FAD2-9055-A745FBCB77D3}"/>
              </a:ext>
            </a:extLst>
          </p:cNvPr>
          <p:cNvSpPr/>
          <p:nvPr/>
        </p:nvSpPr>
        <p:spPr>
          <a:xfrm>
            <a:off x="3703846" y="2145712"/>
            <a:ext cx="1758920" cy="52321"/>
          </a:xfrm>
          <a:prstGeom prst="rect">
            <a:avLst/>
          </a:prstGeom>
          <a:solidFill>
            <a:srgbClr val="6ECFB4"/>
          </a:solidFill>
          <a:ln w="12700">
            <a:solidFill>
              <a:srgbClr val="6ECFB4"/>
            </a:solidFill>
            <a:prstDash val="solid"/>
          </a:ln>
        </p:spPr>
      </p:sp>
      <p:sp>
        <p:nvSpPr>
          <p:cNvPr id="118" name="Text 23">
            <a:extLst>
              <a:ext uri="{FF2B5EF4-FFF2-40B4-BE49-F238E27FC236}">
                <a16:creationId xmlns:a16="http://schemas.microsoft.com/office/drawing/2014/main" id="{A8C174AD-4369-AE7C-D671-0072E85D8CAE}"/>
              </a:ext>
            </a:extLst>
          </p:cNvPr>
          <p:cNvSpPr/>
          <p:nvPr/>
        </p:nvSpPr>
        <p:spPr>
          <a:xfrm>
            <a:off x="4066321" y="2282872"/>
            <a:ext cx="1305005" cy="36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— Best Month</a:t>
            </a:r>
            <a:endParaRPr lang="en-US" sz="1100" dirty="0"/>
          </a:p>
        </p:txBody>
      </p:sp>
      <p:sp>
        <p:nvSpPr>
          <p:cNvPr id="120" name="Text 25">
            <a:extLst>
              <a:ext uri="{FF2B5EF4-FFF2-40B4-BE49-F238E27FC236}">
                <a16:creationId xmlns:a16="http://schemas.microsoft.com/office/drawing/2014/main" id="{5841A671-65A0-49B6-CACB-76957378BC58}"/>
              </a:ext>
            </a:extLst>
          </p:cNvPr>
          <p:cNvSpPr/>
          <p:nvPr/>
        </p:nvSpPr>
        <p:spPr>
          <a:xfrm>
            <a:off x="3867733" y="2804080"/>
            <a:ext cx="1503593" cy="479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shows highest average daily returns</a:t>
            </a:r>
            <a:endParaRPr lang="en-US" sz="980" dirty="0"/>
          </a:p>
        </p:txBody>
      </p:sp>
      <p:sp>
        <p:nvSpPr>
          <p:cNvPr id="121" name="Shape 26">
            <a:extLst>
              <a:ext uri="{FF2B5EF4-FFF2-40B4-BE49-F238E27FC236}">
                <a16:creationId xmlns:a16="http://schemas.microsoft.com/office/drawing/2014/main" id="{C3343888-C7A5-CFEA-2958-805189BB812B}"/>
              </a:ext>
            </a:extLst>
          </p:cNvPr>
          <p:cNvSpPr/>
          <p:nvPr/>
        </p:nvSpPr>
        <p:spPr>
          <a:xfrm>
            <a:off x="3730442" y="4034966"/>
            <a:ext cx="82952" cy="93437"/>
          </a:xfrm>
          <a:prstGeom prst="ellipse">
            <a:avLst/>
          </a:prstGeom>
          <a:solidFill>
            <a:srgbClr val="6ECFB4"/>
          </a:solidFill>
          <a:ln w="12700">
            <a:solidFill>
              <a:srgbClr val="6ECFB4"/>
            </a:solidFill>
            <a:prstDash val="solid"/>
          </a:ln>
        </p:spPr>
      </p:sp>
      <p:sp>
        <p:nvSpPr>
          <p:cNvPr id="122" name="Text 27">
            <a:extLst>
              <a:ext uri="{FF2B5EF4-FFF2-40B4-BE49-F238E27FC236}">
                <a16:creationId xmlns:a16="http://schemas.microsoft.com/office/drawing/2014/main" id="{AD052DD5-A321-ADF3-FD7B-3D0288C30520}"/>
              </a:ext>
            </a:extLst>
          </p:cNvPr>
          <p:cNvSpPr/>
          <p:nvPr/>
        </p:nvSpPr>
        <p:spPr>
          <a:xfrm>
            <a:off x="3867733" y="3398440"/>
            <a:ext cx="1503593" cy="479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Post-monsoon recovery and pre-festive demand boost sentiment</a:t>
            </a:r>
            <a:endParaRPr lang="en-US" sz="980" dirty="0"/>
          </a:p>
        </p:txBody>
      </p:sp>
      <p:sp>
        <p:nvSpPr>
          <p:cNvPr id="124" name="Text 29">
            <a:extLst>
              <a:ext uri="{FF2B5EF4-FFF2-40B4-BE49-F238E27FC236}">
                <a16:creationId xmlns:a16="http://schemas.microsoft.com/office/drawing/2014/main" id="{5A3572DD-7EFC-7012-2669-F864722903BF}"/>
              </a:ext>
            </a:extLst>
          </p:cNvPr>
          <p:cNvSpPr/>
          <p:nvPr/>
        </p:nvSpPr>
        <p:spPr>
          <a:xfrm>
            <a:off x="3867733" y="3992800"/>
            <a:ext cx="1503593" cy="479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and FMCG sectors contribute most to Sept. outperformance</a:t>
            </a:r>
            <a:endParaRPr lang="en-US" sz="980" dirty="0"/>
          </a:p>
        </p:txBody>
      </p:sp>
      <p:sp>
        <p:nvSpPr>
          <p:cNvPr id="125" name="Shape 30">
            <a:extLst>
              <a:ext uri="{FF2B5EF4-FFF2-40B4-BE49-F238E27FC236}">
                <a16:creationId xmlns:a16="http://schemas.microsoft.com/office/drawing/2014/main" id="{1A212C6A-DF51-EF88-0691-B87939865B9B}"/>
              </a:ext>
            </a:extLst>
          </p:cNvPr>
          <p:cNvSpPr/>
          <p:nvPr/>
        </p:nvSpPr>
        <p:spPr>
          <a:xfrm>
            <a:off x="5554634" y="2155523"/>
            <a:ext cx="1696994" cy="2501587"/>
          </a:xfrm>
          <a:prstGeom prst="rect">
            <a:avLst/>
          </a:prstGeom>
          <a:solidFill>
            <a:srgbClr val="FFFFFF"/>
          </a:solidFill>
          <a:ln w="15240">
            <a:solidFill>
              <a:srgbClr val="E0D5F5"/>
            </a:solidFill>
            <a:prstDash val="solid"/>
          </a:ln>
          <a:effectLst>
            <a:outerShdw blurRad="101600" dist="25400" dir="8100000" algn="bl" rotWithShape="0">
              <a:srgbClr val="9B6FE8">
                <a:alpha val="10000"/>
              </a:srgbClr>
            </a:outerShdw>
          </a:effectLst>
        </p:spPr>
      </p:sp>
      <p:sp>
        <p:nvSpPr>
          <p:cNvPr id="126" name="Shape 31">
            <a:extLst>
              <a:ext uri="{FF2B5EF4-FFF2-40B4-BE49-F238E27FC236}">
                <a16:creationId xmlns:a16="http://schemas.microsoft.com/office/drawing/2014/main" id="{2B1AAA6C-A4DB-7954-AC41-B50B1C5C9BF9}"/>
              </a:ext>
            </a:extLst>
          </p:cNvPr>
          <p:cNvSpPr/>
          <p:nvPr/>
        </p:nvSpPr>
        <p:spPr>
          <a:xfrm>
            <a:off x="5554634" y="2155523"/>
            <a:ext cx="1696994" cy="52116"/>
          </a:xfrm>
          <a:prstGeom prst="rect">
            <a:avLst/>
          </a:prstGeom>
          <a:solidFill>
            <a:srgbClr val="F07A7A"/>
          </a:solidFill>
          <a:ln w="12700">
            <a:solidFill>
              <a:srgbClr val="F07A7A"/>
            </a:solidFill>
            <a:prstDash val="solid"/>
          </a:ln>
        </p:spPr>
      </p:sp>
      <p:sp>
        <p:nvSpPr>
          <p:cNvPr id="129" name="Text 33">
            <a:extLst>
              <a:ext uri="{FF2B5EF4-FFF2-40B4-BE49-F238E27FC236}">
                <a16:creationId xmlns:a16="http://schemas.microsoft.com/office/drawing/2014/main" id="{460E0E70-2130-ED55-41A9-4D4145788F97}"/>
              </a:ext>
            </a:extLst>
          </p:cNvPr>
          <p:cNvSpPr/>
          <p:nvPr/>
        </p:nvSpPr>
        <p:spPr>
          <a:xfrm>
            <a:off x="5901128" y="2292683"/>
            <a:ext cx="1259060" cy="364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— Worst Month</a:t>
            </a:r>
            <a:endParaRPr lang="en-US" sz="1100" dirty="0"/>
          </a:p>
        </p:txBody>
      </p:sp>
      <p:sp>
        <p:nvSpPr>
          <p:cNvPr id="131" name="Text 35">
            <a:extLst>
              <a:ext uri="{FF2B5EF4-FFF2-40B4-BE49-F238E27FC236}">
                <a16:creationId xmlns:a16="http://schemas.microsoft.com/office/drawing/2014/main" id="{9FB788FC-3B5A-B46C-AC49-856E1AA2BBE6}"/>
              </a:ext>
            </a:extLst>
          </p:cNvPr>
          <p:cNvSpPr/>
          <p:nvPr/>
        </p:nvSpPr>
        <p:spPr>
          <a:xfrm>
            <a:off x="5709533" y="2813891"/>
            <a:ext cx="1450656" cy="477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average monthly returns across the dataset</a:t>
            </a:r>
            <a:endParaRPr lang="en-US" sz="980" dirty="0"/>
          </a:p>
        </p:txBody>
      </p:sp>
      <p:sp>
        <p:nvSpPr>
          <p:cNvPr id="133" name="Text 37">
            <a:extLst>
              <a:ext uri="{FF2B5EF4-FFF2-40B4-BE49-F238E27FC236}">
                <a16:creationId xmlns:a16="http://schemas.microsoft.com/office/drawing/2014/main" id="{2C5BCACF-499A-871B-5B55-0AE928BFBB47}"/>
              </a:ext>
            </a:extLst>
          </p:cNvPr>
          <p:cNvSpPr/>
          <p:nvPr/>
        </p:nvSpPr>
        <p:spPr>
          <a:xfrm>
            <a:off x="5709533" y="3408251"/>
            <a:ext cx="1450656" cy="477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Year-start profit-booking after December rally</a:t>
            </a:r>
            <a:endParaRPr lang="en-US" sz="980" dirty="0"/>
          </a:p>
        </p:txBody>
      </p:sp>
      <p:sp>
        <p:nvSpPr>
          <p:cNvPr id="134" name="Shape 38">
            <a:extLst>
              <a:ext uri="{FF2B5EF4-FFF2-40B4-BE49-F238E27FC236}">
                <a16:creationId xmlns:a16="http://schemas.microsoft.com/office/drawing/2014/main" id="{DD37A355-0357-EB8A-93CC-289A13E88E8A}"/>
              </a:ext>
            </a:extLst>
          </p:cNvPr>
          <p:cNvSpPr/>
          <p:nvPr/>
        </p:nvSpPr>
        <p:spPr>
          <a:xfrm>
            <a:off x="5594596" y="4045485"/>
            <a:ext cx="82578" cy="99937"/>
          </a:xfrm>
          <a:prstGeom prst="ellipse">
            <a:avLst/>
          </a:prstGeom>
          <a:solidFill>
            <a:srgbClr val="F07A7A"/>
          </a:solidFill>
          <a:ln w="12700">
            <a:solidFill>
              <a:srgbClr val="F07A7A"/>
            </a:solidFill>
            <a:prstDash val="solid"/>
          </a:ln>
        </p:spPr>
      </p:sp>
      <p:sp>
        <p:nvSpPr>
          <p:cNvPr id="135" name="Text 39">
            <a:extLst>
              <a:ext uri="{FF2B5EF4-FFF2-40B4-BE49-F238E27FC236}">
                <a16:creationId xmlns:a16="http://schemas.microsoft.com/office/drawing/2014/main" id="{130EE840-2DE7-C328-4F74-3F0B5827E7EE}"/>
              </a:ext>
            </a:extLst>
          </p:cNvPr>
          <p:cNvSpPr/>
          <p:nvPr/>
        </p:nvSpPr>
        <p:spPr>
          <a:xfrm>
            <a:off x="5709533" y="4002611"/>
            <a:ext cx="1450656" cy="477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macroeconomic uncertainty weighs on sentiment</a:t>
            </a:r>
            <a:endParaRPr lang="en-US" sz="980" dirty="0"/>
          </a:p>
        </p:txBody>
      </p:sp>
      <p:sp>
        <p:nvSpPr>
          <p:cNvPr id="136" name="Shape 40">
            <a:extLst>
              <a:ext uri="{FF2B5EF4-FFF2-40B4-BE49-F238E27FC236}">
                <a16:creationId xmlns:a16="http://schemas.microsoft.com/office/drawing/2014/main" id="{96E8DFAA-C6AA-B4C3-FF80-0C5514AE5091}"/>
              </a:ext>
            </a:extLst>
          </p:cNvPr>
          <p:cNvSpPr/>
          <p:nvPr/>
        </p:nvSpPr>
        <p:spPr>
          <a:xfrm>
            <a:off x="7343496" y="2155523"/>
            <a:ext cx="1702533" cy="2501587"/>
          </a:xfrm>
          <a:prstGeom prst="rect">
            <a:avLst/>
          </a:prstGeom>
          <a:solidFill>
            <a:srgbClr val="FFFFFF"/>
          </a:solidFill>
          <a:ln w="15240">
            <a:solidFill>
              <a:srgbClr val="E0D5F5"/>
            </a:solidFill>
            <a:prstDash val="solid"/>
          </a:ln>
          <a:effectLst>
            <a:outerShdw blurRad="101600" dist="25400" dir="8100000" algn="bl" rotWithShape="0">
              <a:srgbClr val="9B6FE8">
                <a:alpha val="10000"/>
              </a:srgbClr>
            </a:outerShdw>
          </a:effectLst>
        </p:spPr>
      </p:sp>
      <p:sp>
        <p:nvSpPr>
          <p:cNvPr id="137" name="Shape 41">
            <a:extLst>
              <a:ext uri="{FF2B5EF4-FFF2-40B4-BE49-F238E27FC236}">
                <a16:creationId xmlns:a16="http://schemas.microsoft.com/office/drawing/2014/main" id="{CF6373F5-4F21-A3C5-47E8-3168D5792FBB}"/>
              </a:ext>
            </a:extLst>
          </p:cNvPr>
          <p:cNvSpPr/>
          <p:nvPr/>
        </p:nvSpPr>
        <p:spPr>
          <a:xfrm>
            <a:off x="7343496" y="2146771"/>
            <a:ext cx="1696994" cy="71244"/>
          </a:xfrm>
          <a:prstGeom prst="rect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</p:spPr>
      </p:sp>
      <p:sp>
        <p:nvSpPr>
          <p:cNvPr id="140" name="Text 43">
            <a:extLst>
              <a:ext uri="{FF2B5EF4-FFF2-40B4-BE49-F238E27FC236}">
                <a16:creationId xmlns:a16="http://schemas.microsoft.com/office/drawing/2014/main" id="{F63E4DAD-641D-F7E5-9A13-64F4125E460D}"/>
              </a:ext>
            </a:extLst>
          </p:cNvPr>
          <p:cNvSpPr/>
          <p:nvPr/>
        </p:nvSpPr>
        <p:spPr>
          <a:xfrm>
            <a:off x="7782616" y="2401526"/>
            <a:ext cx="996709" cy="26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Behaviour</a:t>
            </a:r>
            <a:endParaRPr lang="en-US" sz="1100" dirty="0"/>
          </a:p>
        </p:txBody>
      </p:sp>
      <p:sp>
        <p:nvSpPr>
          <p:cNvPr id="141" name="Shape 44">
            <a:extLst>
              <a:ext uri="{FF2B5EF4-FFF2-40B4-BE49-F238E27FC236}">
                <a16:creationId xmlns:a16="http://schemas.microsoft.com/office/drawing/2014/main" id="{D60F2668-5175-4DA9-3665-1B1428510FFC}"/>
              </a:ext>
            </a:extLst>
          </p:cNvPr>
          <p:cNvSpPr/>
          <p:nvPr/>
        </p:nvSpPr>
        <p:spPr>
          <a:xfrm>
            <a:off x="7419462" y="2980676"/>
            <a:ext cx="69121" cy="102487"/>
          </a:xfrm>
          <a:prstGeom prst="ellipse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</p:spPr>
      </p:sp>
      <p:sp>
        <p:nvSpPr>
          <p:cNvPr id="142" name="Text 45">
            <a:extLst>
              <a:ext uri="{FF2B5EF4-FFF2-40B4-BE49-F238E27FC236}">
                <a16:creationId xmlns:a16="http://schemas.microsoft.com/office/drawing/2014/main" id="{79C7AE8C-1F98-78AB-3AAD-DF0ADBBDFD35}"/>
              </a:ext>
            </a:extLst>
          </p:cNvPr>
          <p:cNvSpPr/>
          <p:nvPr/>
        </p:nvSpPr>
        <p:spPr>
          <a:xfrm>
            <a:off x="7658955" y="2811957"/>
            <a:ext cx="13870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 Gap Up openings — bullish overnight signals</a:t>
            </a:r>
            <a:endParaRPr lang="en-US" sz="980" dirty="0"/>
          </a:p>
        </p:txBody>
      </p:sp>
      <p:sp>
        <p:nvSpPr>
          <p:cNvPr id="143" name="Shape 46">
            <a:extLst>
              <a:ext uri="{FF2B5EF4-FFF2-40B4-BE49-F238E27FC236}">
                <a16:creationId xmlns:a16="http://schemas.microsoft.com/office/drawing/2014/main" id="{E44B883E-B862-2C5F-51B8-0A0978AF6951}"/>
              </a:ext>
            </a:extLst>
          </p:cNvPr>
          <p:cNvSpPr/>
          <p:nvPr/>
        </p:nvSpPr>
        <p:spPr>
          <a:xfrm>
            <a:off x="7419462" y="3551062"/>
            <a:ext cx="69121" cy="102487"/>
          </a:xfrm>
          <a:prstGeom prst="ellipse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</p:spPr>
      </p:sp>
      <p:sp>
        <p:nvSpPr>
          <p:cNvPr id="144" name="Text 47">
            <a:extLst>
              <a:ext uri="{FF2B5EF4-FFF2-40B4-BE49-F238E27FC236}">
                <a16:creationId xmlns:a16="http://schemas.microsoft.com/office/drawing/2014/main" id="{A2110A68-9865-0BCB-9644-4445A3EC554B}"/>
              </a:ext>
            </a:extLst>
          </p:cNvPr>
          <p:cNvSpPr/>
          <p:nvPr/>
        </p:nvSpPr>
        <p:spPr>
          <a:xfrm>
            <a:off x="7658955" y="3406317"/>
            <a:ext cx="13870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 Gap Down openings — risk events or bad news</a:t>
            </a:r>
            <a:endParaRPr lang="en-US" sz="980" dirty="0"/>
          </a:p>
        </p:txBody>
      </p:sp>
      <p:sp>
        <p:nvSpPr>
          <p:cNvPr id="145" name="Shape 48">
            <a:extLst>
              <a:ext uri="{FF2B5EF4-FFF2-40B4-BE49-F238E27FC236}">
                <a16:creationId xmlns:a16="http://schemas.microsoft.com/office/drawing/2014/main" id="{37D0A2D3-72AA-E398-F382-FFF1F037BE1D}"/>
              </a:ext>
            </a:extLst>
          </p:cNvPr>
          <p:cNvSpPr/>
          <p:nvPr/>
        </p:nvSpPr>
        <p:spPr>
          <a:xfrm>
            <a:off x="7406527" y="4046509"/>
            <a:ext cx="69121" cy="102487"/>
          </a:xfrm>
          <a:prstGeom prst="ellipse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</p:spPr>
      </p:sp>
      <p:sp>
        <p:nvSpPr>
          <p:cNvPr id="146" name="Text 49">
            <a:extLst>
              <a:ext uri="{FF2B5EF4-FFF2-40B4-BE49-F238E27FC236}">
                <a16:creationId xmlns:a16="http://schemas.microsoft.com/office/drawing/2014/main" id="{E93C4A7E-DAF7-1E16-EDEB-08FEF4D8DCC6}"/>
              </a:ext>
            </a:extLst>
          </p:cNvPr>
          <p:cNvSpPr/>
          <p:nvPr/>
        </p:nvSpPr>
        <p:spPr>
          <a:xfrm>
            <a:off x="7658955" y="4000677"/>
            <a:ext cx="13870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days open near previous close — no gap dominates</a:t>
            </a:r>
            <a:endParaRPr lang="en-US" sz="980" dirty="0"/>
          </a:p>
        </p:txBody>
      </p:sp>
      <p:sp>
        <p:nvSpPr>
          <p:cNvPr id="147" name="Shape 38">
            <a:extLst>
              <a:ext uri="{FF2B5EF4-FFF2-40B4-BE49-F238E27FC236}">
                <a16:creationId xmlns:a16="http://schemas.microsoft.com/office/drawing/2014/main" id="{98D1AA0F-3ADC-B913-925B-295746219F17}"/>
              </a:ext>
            </a:extLst>
          </p:cNvPr>
          <p:cNvSpPr/>
          <p:nvPr/>
        </p:nvSpPr>
        <p:spPr>
          <a:xfrm>
            <a:off x="5592129" y="3523940"/>
            <a:ext cx="82578" cy="99937"/>
          </a:xfrm>
          <a:prstGeom prst="ellipse">
            <a:avLst/>
          </a:prstGeom>
          <a:solidFill>
            <a:srgbClr val="F07A7A"/>
          </a:solidFill>
          <a:ln w="12700">
            <a:solidFill>
              <a:srgbClr val="F07A7A"/>
            </a:solidFill>
            <a:prstDash val="solid"/>
          </a:ln>
        </p:spPr>
      </p:sp>
      <p:sp>
        <p:nvSpPr>
          <p:cNvPr id="148" name="Shape 38">
            <a:extLst>
              <a:ext uri="{FF2B5EF4-FFF2-40B4-BE49-F238E27FC236}">
                <a16:creationId xmlns:a16="http://schemas.microsoft.com/office/drawing/2014/main" id="{B9F958D9-9A09-0379-FC93-8B38581F0C90}"/>
              </a:ext>
            </a:extLst>
          </p:cNvPr>
          <p:cNvSpPr/>
          <p:nvPr/>
        </p:nvSpPr>
        <p:spPr>
          <a:xfrm>
            <a:off x="5590795" y="2951226"/>
            <a:ext cx="82578" cy="99937"/>
          </a:xfrm>
          <a:prstGeom prst="ellipse">
            <a:avLst/>
          </a:prstGeom>
          <a:solidFill>
            <a:srgbClr val="F07A7A"/>
          </a:solidFill>
          <a:ln w="12700">
            <a:solidFill>
              <a:srgbClr val="F07A7A"/>
            </a:solidFill>
            <a:prstDash val="solid"/>
          </a:ln>
        </p:spPr>
      </p:sp>
      <p:sp>
        <p:nvSpPr>
          <p:cNvPr id="149" name="Shape 26">
            <a:extLst>
              <a:ext uri="{FF2B5EF4-FFF2-40B4-BE49-F238E27FC236}">
                <a16:creationId xmlns:a16="http://schemas.microsoft.com/office/drawing/2014/main" id="{8BFB39BD-1037-6B10-93CE-A2A5E46EBAB6}"/>
              </a:ext>
            </a:extLst>
          </p:cNvPr>
          <p:cNvSpPr/>
          <p:nvPr/>
        </p:nvSpPr>
        <p:spPr>
          <a:xfrm>
            <a:off x="3734389" y="3425269"/>
            <a:ext cx="82952" cy="93437"/>
          </a:xfrm>
          <a:prstGeom prst="ellipse">
            <a:avLst/>
          </a:prstGeom>
          <a:solidFill>
            <a:srgbClr val="6ECFB4"/>
          </a:solidFill>
          <a:ln w="12700">
            <a:solidFill>
              <a:srgbClr val="6ECFB4"/>
            </a:solidFill>
            <a:prstDash val="solid"/>
          </a:ln>
        </p:spPr>
      </p:sp>
      <p:sp>
        <p:nvSpPr>
          <p:cNvPr id="150" name="Shape 26">
            <a:extLst>
              <a:ext uri="{FF2B5EF4-FFF2-40B4-BE49-F238E27FC236}">
                <a16:creationId xmlns:a16="http://schemas.microsoft.com/office/drawing/2014/main" id="{56C81983-C77F-D622-ADCE-5999899493D2}"/>
              </a:ext>
            </a:extLst>
          </p:cNvPr>
          <p:cNvSpPr/>
          <p:nvPr/>
        </p:nvSpPr>
        <p:spPr>
          <a:xfrm>
            <a:off x="3734389" y="2914928"/>
            <a:ext cx="82952" cy="93437"/>
          </a:xfrm>
          <a:prstGeom prst="ellipse">
            <a:avLst/>
          </a:prstGeom>
          <a:solidFill>
            <a:srgbClr val="6ECFB4"/>
          </a:solidFill>
          <a:ln w="12700">
            <a:solidFill>
              <a:srgbClr val="6ECFB4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64008" cy="4640580"/>
          </a:xfrm>
          <a:prstGeom prst="rect">
            <a:avLst/>
          </a:prstGeom>
          <a:solidFill>
            <a:srgbClr val="7B3FBE"/>
          </a:solidFill>
          <a:ln w="12700">
            <a:solidFill>
              <a:srgbClr val="7B3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45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Recommendations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" y="47548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A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Strategies for Traders &amp; Investors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4592" y="804672"/>
            <a:ext cx="4297680" cy="1993392"/>
          </a:xfrm>
          <a:prstGeom prst="rect">
            <a:avLst/>
          </a:prstGeom>
          <a:solidFill>
            <a:srgbClr val="FFFFFF"/>
          </a:solidFill>
          <a:ln w="15240">
            <a:solidFill>
              <a:srgbClr val="E0D5F5"/>
            </a:solidFill>
            <a:prstDash val="solid"/>
          </a:ln>
          <a:effectLst>
            <a:outerShdw blurRad="101600" dist="25400" dir="8100000" algn="bl" rotWithShape="0">
              <a:srgbClr val="9B6FE8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804672"/>
            <a:ext cx="658368" cy="1993392"/>
          </a:xfrm>
          <a:prstGeom prst="rect">
            <a:avLst/>
          </a:prstGeom>
          <a:solidFill>
            <a:srgbClr val="7B3FBE"/>
          </a:solidFill>
          <a:ln w="12700">
            <a:solidFill>
              <a:srgbClr val="7B3F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804672"/>
            <a:ext cx="658368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182112" y="896112"/>
            <a:ext cx="1143000" cy="256032"/>
          </a:xfrm>
          <a:prstGeom prst="rect">
            <a:avLst/>
          </a:prstGeom>
          <a:solidFill>
            <a:srgbClr val="7B3FBE">
              <a:alpha val="25000"/>
            </a:srgbClr>
          </a:solidFill>
          <a:ln w="12700">
            <a:solidFill>
              <a:srgbClr val="7B3FBE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82112" y="89611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B3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941832" y="89611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During Stable Periods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1371600"/>
            <a:ext cx="340156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strategy execution during low-volatility months (e.g., April, May) to reduce unexpected risk. Avoid chasing momentum in high-volatility windows without a stop-loss strategy.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804672"/>
            <a:ext cx="4297680" cy="1993392"/>
          </a:xfrm>
          <a:prstGeom prst="rect">
            <a:avLst/>
          </a:prstGeom>
          <a:solidFill>
            <a:srgbClr val="FFFFFF"/>
          </a:solidFill>
          <a:ln w="15240">
            <a:solidFill>
              <a:srgbClr val="E0D5F5"/>
            </a:solidFill>
            <a:prstDash val="solid"/>
          </a:ln>
          <a:effectLst>
            <a:outerShdw blurRad="101600" dist="25400" dir="8100000" algn="bl" rotWithShape="0">
              <a:srgbClr val="9B6FE8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804672"/>
            <a:ext cx="658368" cy="1993392"/>
          </a:xfrm>
          <a:prstGeom prst="rect">
            <a:avLst/>
          </a:prstGeom>
          <a:solidFill>
            <a:srgbClr val="F07A7A"/>
          </a:solidFill>
          <a:ln w="12700">
            <a:solidFill>
              <a:srgbClr val="F07A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804672"/>
            <a:ext cx="658368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7680960" y="896112"/>
            <a:ext cx="1143000" cy="256032"/>
          </a:xfrm>
          <a:prstGeom prst="rect">
            <a:avLst/>
          </a:prstGeom>
          <a:solidFill>
            <a:srgbClr val="F07A7A">
              <a:alpha val="25000"/>
            </a:srgbClr>
          </a:solidFill>
          <a:ln w="12700">
            <a:solidFill>
              <a:srgbClr val="F07A7A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0" y="89611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Alert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440680" y="89611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 in October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13248" y="1371600"/>
            <a:ext cx="340156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strategies should scale back exposure in October. Historical data shows significantly elevated volatility — wider spreads, higher slippage risk, and larger intraday swings.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64592" y="2980944"/>
            <a:ext cx="4297680" cy="1993392"/>
          </a:xfrm>
          <a:prstGeom prst="rect">
            <a:avLst/>
          </a:prstGeom>
          <a:solidFill>
            <a:srgbClr val="FFFFFF"/>
          </a:solidFill>
          <a:ln w="15240">
            <a:solidFill>
              <a:srgbClr val="E0D5F5"/>
            </a:solidFill>
            <a:prstDash val="solid"/>
          </a:ln>
          <a:effectLst>
            <a:outerShdw blurRad="101600" dist="25400" dir="8100000" algn="bl" rotWithShape="0">
              <a:srgbClr val="9B6FE8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64592" y="2980944"/>
            <a:ext cx="658368" cy="1993392"/>
          </a:xfrm>
          <a:prstGeom prst="rect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4592" y="2980944"/>
            <a:ext cx="658368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3182112" y="3072384"/>
            <a:ext cx="1143000" cy="256032"/>
          </a:xfrm>
          <a:prstGeom prst="rect">
            <a:avLst/>
          </a:prstGeom>
          <a:solidFill>
            <a:srgbClr val="E8C96A">
              <a:alpha val="25000"/>
            </a:srgbClr>
          </a:solidFill>
          <a:ln w="12700">
            <a:solidFill>
              <a:srgbClr val="E8C96A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82112" y="307238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Effect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941832" y="3072384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Weekday Patterns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4400" y="3547872"/>
            <a:ext cx="340156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 shows statistically higher average daily returns. Short-term traders can use this pattern to bias entries toward mid-week setups for favorable risk-reward ratios.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2980944"/>
            <a:ext cx="4297680" cy="1993392"/>
          </a:xfrm>
          <a:prstGeom prst="rect">
            <a:avLst/>
          </a:prstGeom>
          <a:solidFill>
            <a:srgbClr val="FFFFFF"/>
          </a:solidFill>
          <a:ln w="15240">
            <a:solidFill>
              <a:srgbClr val="E0D5F5"/>
            </a:solidFill>
            <a:prstDash val="solid"/>
          </a:ln>
          <a:effectLst>
            <a:outerShdw blurRad="101600" dist="25400" dir="8100000" algn="bl" rotWithShape="0">
              <a:srgbClr val="9B6FE8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2980944"/>
            <a:ext cx="658368" cy="1993392"/>
          </a:xfrm>
          <a:prstGeom prst="rect">
            <a:avLst/>
          </a:prstGeom>
          <a:solidFill>
            <a:srgbClr val="6ECFB4"/>
          </a:solidFill>
          <a:ln w="12700">
            <a:solidFill>
              <a:srgbClr val="6ECFB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2980944"/>
            <a:ext cx="658368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30" name="Shape 28"/>
          <p:cNvSpPr/>
          <p:nvPr/>
        </p:nvSpPr>
        <p:spPr>
          <a:xfrm>
            <a:off x="7680960" y="3072384"/>
            <a:ext cx="1143000" cy="256032"/>
          </a:xfrm>
          <a:prstGeom prst="rect">
            <a:avLst/>
          </a:prstGeom>
          <a:solidFill>
            <a:srgbClr val="6ECFB4">
              <a:alpha val="25000"/>
            </a:srgbClr>
          </a:solidFill>
          <a:ln w="12700">
            <a:solidFill>
              <a:srgbClr val="6ECFB4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307238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EC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Strategy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440680" y="3072384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Volume Spikes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13248" y="3547872"/>
            <a:ext cx="340156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volume is right-skewed, abnormal spikes above the 90th percentile often signal institutional activity or news-driven moves — potential breakout or reversal opportunities.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657600" cy="3657600"/>
          </a:xfrm>
          <a:prstGeom prst="ellipse">
            <a:avLst/>
          </a:prstGeom>
          <a:solidFill>
            <a:srgbClr val="5B2D8E">
              <a:alpha val="40000"/>
            </a:srgbClr>
          </a:solidFill>
          <a:ln w="12700">
            <a:solidFill>
              <a:srgbClr val="5B2D8E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7B3FBE">
              <a:alpha val="35000"/>
            </a:srgbClr>
          </a:solidFill>
          <a:ln w="12700">
            <a:solidFill>
              <a:srgbClr val="7B3FBE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182880"/>
            <a:ext cx="1097280" cy="1097280"/>
          </a:xfrm>
          <a:prstGeom prst="ellipse">
            <a:avLst/>
          </a:prstGeom>
          <a:solidFill>
            <a:srgbClr val="E8C96A">
              <a:alpha val="55000"/>
            </a:srgbClr>
          </a:solidFill>
          <a:ln w="12700">
            <a:solidFill>
              <a:srgbClr val="E8C96A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30752" y="731520"/>
            <a:ext cx="1645920" cy="64008"/>
          </a:xfrm>
          <a:prstGeom prst="rect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30352" y="144475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4A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 and what comes next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8321040" cy="658368"/>
          </a:xfrm>
          <a:prstGeom prst="rect">
            <a:avLst/>
          </a:prstGeom>
          <a:solidFill>
            <a:srgbClr val="7B3FBE">
              <a:alpha val="15000"/>
            </a:srgbClr>
          </a:solidFill>
          <a:ln w="12700">
            <a:solidFill>
              <a:srgbClr val="7B3FBE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011680"/>
            <a:ext cx="438912" cy="438912"/>
          </a:xfrm>
          <a:prstGeom prst="ellipse">
            <a:avLst/>
          </a:prstGeom>
          <a:solidFill>
            <a:srgbClr val="7B3FBE">
              <a:alpha val="60000"/>
            </a:srgbClr>
          </a:solidFill>
          <a:ln w="12700">
            <a:solidFill>
              <a:srgbClr val="7B3FBE">
                <a:alpha val="60000"/>
              </a:srgbClr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048256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70432" y="201168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reveals clear, actionable market patterns in NIFTY 50 — from volatility cycles to seasonal return anomalies.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2670048"/>
            <a:ext cx="8321040" cy="658368"/>
          </a:xfrm>
          <a:prstGeom prst="rect">
            <a:avLst/>
          </a:prstGeom>
          <a:solidFill>
            <a:srgbClr val="E8C96A">
              <a:alpha val="15000"/>
            </a:srgbClr>
          </a:solidFill>
          <a:ln w="12700">
            <a:solidFill>
              <a:srgbClr val="E8C96A">
                <a:alpha val="3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4360" y="2761488"/>
            <a:ext cx="438912" cy="438912"/>
          </a:xfrm>
          <a:prstGeom prst="ellipse">
            <a:avLst/>
          </a:prstGeom>
          <a:solidFill>
            <a:srgbClr val="E8C96A">
              <a:alpha val="60000"/>
            </a:srgbClr>
          </a:solidFill>
          <a:ln w="12700">
            <a:solidFill>
              <a:srgbClr val="E8C96A">
                <a:alpha val="60000"/>
              </a:srgbClr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798064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70432" y="276148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 + Matplotlib) proves a powerful, self-sufficient toolkit for financial EDA — no complex frameworks needed.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02920" y="3419856"/>
            <a:ext cx="8321040" cy="658368"/>
          </a:xfrm>
          <a:prstGeom prst="rect">
            <a:avLst/>
          </a:prstGeom>
          <a:solidFill>
            <a:srgbClr val="6ECFB4">
              <a:alpha val="15000"/>
            </a:srgbClr>
          </a:solidFill>
          <a:ln w="12700">
            <a:solidFill>
              <a:srgbClr val="6ECFB4">
                <a:alpha val="30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94360" y="3511296"/>
            <a:ext cx="438912" cy="438912"/>
          </a:xfrm>
          <a:prstGeom prst="ellipse">
            <a:avLst/>
          </a:prstGeom>
          <a:solidFill>
            <a:srgbClr val="6ECFB4">
              <a:alpha val="60000"/>
            </a:srgbClr>
          </a:solidFill>
          <a:ln w="12700">
            <a:solidFill>
              <a:srgbClr val="6ECFB4">
                <a:alpha val="60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547872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70432" y="3511296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demonstrates real-world analytics applicability — bridging raw data and investment intelligence.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02920" y="4169664"/>
            <a:ext cx="8321040" cy="658368"/>
          </a:xfrm>
          <a:prstGeom prst="rect">
            <a:avLst/>
          </a:prstGeom>
          <a:solidFill>
            <a:srgbClr val="F07A7A">
              <a:alpha val="15000"/>
            </a:srgbClr>
          </a:solidFill>
          <a:ln w="12700">
            <a:solidFill>
              <a:srgbClr val="F07A7A">
                <a:alpha val="30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94360" y="4261104"/>
            <a:ext cx="438912" cy="438912"/>
          </a:xfrm>
          <a:prstGeom prst="ellipse">
            <a:avLst/>
          </a:prstGeom>
          <a:solidFill>
            <a:srgbClr val="F07A7A">
              <a:alpha val="60000"/>
            </a:srgbClr>
          </a:solidFill>
          <a:ln w="12700">
            <a:solidFill>
              <a:srgbClr val="F07A7A">
                <a:alpha val="60000"/>
              </a:srgbClr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429768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70432" y="4261104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Machine Learning predictions, interactive dashboards, real-time data integration, and sector-level drill-down.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0" y="4590288"/>
            <a:ext cx="9144000" cy="548640"/>
          </a:xfrm>
          <a:prstGeom prst="rect">
            <a:avLst/>
          </a:prstGeom>
          <a:solidFill>
            <a:srgbClr val="7B3FBE">
              <a:alpha val="45000"/>
            </a:srgbClr>
          </a:solidFill>
          <a:ln w="12700">
            <a:solidFill>
              <a:srgbClr val="7B3FBE">
                <a:alpha val="45000"/>
              </a:srgbClr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182880" y="4645152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dirty="0"/>
          </a:p>
        </p:txBody>
      </p:sp>
      <p:sp>
        <p:nvSpPr>
          <p:cNvPr id="26" name="Shape 3">
            <a:extLst>
              <a:ext uri="{FF2B5EF4-FFF2-40B4-BE49-F238E27FC236}">
                <a16:creationId xmlns:a16="http://schemas.microsoft.com/office/drawing/2014/main" id="{23C20C21-9B9F-71F3-D4A4-F8914DC9FCCD}"/>
              </a:ext>
            </a:extLst>
          </p:cNvPr>
          <p:cNvSpPr/>
          <p:nvPr/>
        </p:nvSpPr>
        <p:spPr>
          <a:xfrm>
            <a:off x="3730752" y="1508760"/>
            <a:ext cx="1645920" cy="64008"/>
          </a:xfrm>
          <a:prstGeom prst="rect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</TotalTime>
  <Words>1359</Words>
  <Application>Microsoft Office PowerPoint</Application>
  <PresentationFormat>On-screen Show (16:9)</PresentationFormat>
  <Paragraphs>251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NIFTY 50 Data Analysis</dc:title>
  <dc:subject>PptxGenJS Presentation</dc:subject>
  <dc:creator>Prabha Burman</dc:creator>
  <cp:lastModifiedBy>Prabha Burman</cp:lastModifiedBy>
  <cp:revision>3</cp:revision>
  <dcterms:created xsi:type="dcterms:W3CDTF">2026-04-07T16:29:45Z</dcterms:created>
  <dcterms:modified xsi:type="dcterms:W3CDTF">2026-04-09T16:09:12Z</dcterms:modified>
</cp:coreProperties>
</file>